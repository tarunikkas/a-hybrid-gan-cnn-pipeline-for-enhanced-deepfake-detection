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49"/>
    <p:restoredTop sz="94593"/>
  </p:normalViewPr>
  <p:slideViewPr>
    <p:cSldViewPr snapToGrid="0">
      <p:cViewPr>
        <p:scale>
          <a:sx n="118" d="100"/>
          <a:sy n="118" d="100"/>
        </p:scale>
        <p:origin x="52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574C68-F74D-4AE9-8876-7AAA6D7F0C9F}" type="doc">
      <dgm:prSet loTypeId="urn:microsoft.com/office/officeart/2005/8/layout/matrix2" loCatId="matrix" qsTypeId="urn:microsoft.com/office/officeart/2005/8/quickstyle/3d1" qsCatId="3D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2033BFDB-8754-4699-854C-804768CF2746}">
      <dgm:prSet/>
      <dgm:spPr/>
      <dgm:t>
        <a:bodyPr/>
        <a:lstStyle/>
        <a:p>
          <a:r>
            <a:rPr lang="en-US" dirty="0"/>
            <a:t>Publicly available dataset containing </a:t>
          </a:r>
          <a:r>
            <a:rPr lang="en-US" b="1" dirty="0"/>
            <a:t>real and manipulated facial videos</a:t>
          </a:r>
          <a:r>
            <a:rPr lang="en-US" dirty="0"/>
            <a:t>.</a:t>
          </a:r>
        </a:p>
      </dgm:t>
    </dgm:pt>
    <dgm:pt modelId="{9914673D-A712-47B1-B1A6-87084C6860D3}" type="parTrans" cxnId="{FB415879-D7D0-4BDB-9B7D-350E7884FAC7}">
      <dgm:prSet/>
      <dgm:spPr/>
      <dgm:t>
        <a:bodyPr/>
        <a:lstStyle/>
        <a:p>
          <a:endParaRPr lang="en-US"/>
        </a:p>
      </dgm:t>
    </dgm:pt>
    <dgm:pt modelId="{E64F7EF9-76AB-4DFB-80D3-C80668A9EC10}" type="sibTrans" cxnId="{FB415879-D7D0-4BDB-9B7D-350E7884FAC7}">
      <dgm:prSet/>
      <dgm:spPr/>
      <dgm:t>
        <a:bodyPr/>
        <a:lstStyle/>
        <a:p>
          <a:endParaRPr lang="en-US"/>
        </a:p>
      </dgm:t>
    </dgm:pt>
    <dgm:pt modelId="{9335B778-168A-4A99-B6BC-1F862D7672B7}">
      <dgm:prSet/>
      <dgm:spPr/>
      <dgm:t>
        <a:bodyPr/>
        <a:lstStyle/>
        <a:p>
          <a:r>
            <a:rPr lang="en-US" b="1" dirty="0"/>
            <a:t>Total size:</a:t>
          </a:r>
          <a:r>
            <a:rPr lang="en-US" dirty="0"/>
            <a:t> ~</a:t>
          </a:r>
          <a:r>
            <a:rPr lang="en-US" b="1" dirty="0"/>
            <a:t>Total videos:</a:t>
          </a:r>
          <a:r>
            <a:rPr lang="en-US" dirty="0"/>
            <a:t> ≈ </a:t>
          </a:r>
          <a:r>
            <a:rPr lang="en-US" b="1" dirty="0"/>
            <a:t>5,000</a:t>
          </a:r>
          <a:r>
            <a:rPr lang="en-US" dirty="0"/>
            <a:t> (1,000 real + 4,000 fake)</a:t>
          </a:r>
          <a:br>
            <a:rPr lang="en-US" dirty="0"/>
          </a:br>
          <a:r>
            <a:rPr lang="en-US" b="1" dirty="0"/>
            <a:t>Extracted frames:</a:t>
          </a:r>
          <a:r>
            <a:rPr lang="en-US" dirty="0"/>
            <a:t> ≈ </a:t>
          </a:r>
          <a:r>
            <a:rPr lang="en-US" b="1" dirty="0"/>
            <a:t>100,000</a:t>
          </a:r>
          <a:r>
            <a:rPr lang="en-US" dirty="0"/>
            <a:t> (20 per video)</a:t>
          </a:r>
          <a:br>
            <a:rPr lang="en-US" dirty="0"/>
          </a:br>
          <a:r>
            <a:rPr lang="en-US" b="1" dirty="0"/>
            <a:t>Used subset:</a:t>
          </a:r>
          <a:r>
            <a:rPr lang="en-US" dirty="0"/>
            <a:t> ≈ </a:t>
          </a:r>
          <a:r>
            <a:rPr lang="en-US" b="1" dirty="0"/>
            <a:t>8,000–10,000 balanced face images</a:t>
          </a:r>
          <a:endParaRPr lang="en-US" dirty="0"/>
        </a:p>
      </dgm:t>
    </dgm:pt>
    <dgm:pt modelId="{E9233089-07BD-4131-A800-C577DFF4E331}" type="parTrans" cxnId="{45165013-EA15-4622-96AC-7989AE0A6293}">
      <dgm:prSet/>
      <dgm:spPr/>
      <dgm:t>
        <a:bodyPr/>
        <a:lstStyle/>
        <a:p>
          <a:endParaRPr lang="en-US"/>
        </a:p>
      </dgm:t>
    </dgm:pt>
    <dgm:pt modelId="{876DD377-53B3-481A-B361-06028C97159E}" type="sibTrans" cxnId="{45165013-EA15-4622-96AC-7989AE0A6293}">
      <dgm:prSet/>
      <dgm:spPr/>
      <dgm:t>
        <a:bodyPr/>
        <a:lstStyle/>
        <a:p>
          <a:endParaRPr lang="en-US"/>
        </a:p>
      </dgm:t>
    </dgm:pt>
    <dgm:pt modelId="{43E7BBDA-6DA9-4B8A-B7B0-BAC39448ECC4}">
      <dgm:prSet/>
      <dgm:spPr/>
      <dgm:t>
        <a:bodyPr/>
        <a:lstStyle/>
        <a:p>
          <a:r>
            <a:rPr lang="en-US" b="1"/>
            <a:t>Split:</a:t>
          </a:r>
          <a:r>
            <a:rPr lang="en-US"/>
            <a:t> 70% training, 20% validation, 10% testing</a:t>
          </a:r>
        </a:p>
      </dgm:t>
    </dgm:pt>
    <dgm:pt modelId="{236A9862-4E03-4200-8282-A08D3BB834FC}" type="parTrans" cxnId="{D2C06D10-AE17-45AD-8ED3-9EAC10D042DE}">
      <dgm:prSet/>
      <dgm:spPr/>
      <dgm:t>
        <a:bodyPr/>
        <a:lstStyle/>
        <a:p>
          <a:endParaRPr lang="en-US"/>
        </a:p>
      </dgm:t>
    </dgm:pt>
    <dgm:pt modelId="{59BD4F59-2480-4115-9389-B08E2F6A7964}" type="sibTrans" cxnId="{D2C06D10-AE17-45AD-8ED3-9EAC10D042DE}">
      <dgm:prSet/>
      <dgm:spPr/>
      <dgm:t>
        <a:bodyPr/>
        <a:lstStyle/>
        <a:p>
          <a:endParaRPr lang="en-US"/>
        </a:p>
      </dgm:t>
    </dgm:pt>
    <dgm:pt modelId="{BBCEF93C-024B-4250-97F1-919819F035ED}">
      <dgm:prSet/>
      <dgm:spPr/>
      <dgm:t>
        <a:bodyPr/>
        <a:lstStyle/>
        <a:p>
          <a:r>
            <a:rPr lang="en-US" b="1"/>
            <a:t>Preprocessing:</a:t>
          </a:r>
          <a:r>
            <a:rPr lang="en-US"/>
            <a:t> Face detection via </a:t>
          </a:r>
          <a:r>
            <a:rPr lang="en-US" b="1"/>
            <a:t>dlib</a:t>
          </a:r>
          <a:r>
            <a:rPr lang="en-US"/>
            <a:t>, resizing (299×299 / 224×224), normalization</a:t>
          </a:r>
        </a:p>
      </dgm:t>
    </dgm:pt>
    <dgm:pt modelId="{82D0160E-ECD2-4206-9149-E019E2429B82}" type="parTrans" cxnId="{E717C570-7B25-4D3A-9E5D-CCA1975B1CD4}">
      <dgm:prSet/>
      <dgm:spPr/>
      <dgm:t>
        <a:bodyPr/>
        <a:lstStyle/>
        <a:p>
          <a:endParaRPr lang="en-US"/>
        </a:p>
      </dgm:t>
    </dgm:pt>
    <dgm:pt modelId="{020ECA42-9D3A-4213-84D7-151BAEE435E8}" type="sibTrans" cxnId="{E717C570-7B25-4D3A-9E5D-CCA1975B1CD4}">
      <dgm:prSet/>
      <dgm:spPr/>
      <dgm:t>
        <a:bodyPr/>
        <a:lstStyle/>
        <a:p>
          <a:endParaRPr lang="en-US"/>
        </a:p>
      </dgm:t>
    </dgm:pt>
    <dgm:pt modelId="{8B8643F5-4255-1147-AE69-D1C8D57EE3F1}" type="pres">
      <dgm:prSet presAssocID="{04574C68-F74D-4AE9-8876-7AAA6D7F0C9F}" presName="matrix" presStyleCnt="0">
        <dgm:presLayoutVars>
          <dgm:chMax val="1"/>
          <dgm:dir/>
          <dgm:resizeHandles val="exact"/>
        </dgm:presLayoutVars>
      </dgm:prSet>
      <dgm:spPr/>
    </dgm:pt>
    <dgm:pt modelId="{439A1876-96D3-0F48-9A6D-1AC599E88B2A}" type="pres">
      <dgm:prSet presAssocID="{04574C68-F74D-4AE9-8876-7AAA6D7F0C9F}" presName="axisShape" presStyleLbl="bgShp" presStyleIdx="0" presStyleCnt="1"/>
      <dgm:spPr/>
    </dgm:pt>
    <dgm:pt modelId="{C94AC59E-E353-C14C-8CD5-D6E3760AEFEC}" type="pres">
      <dgm:prSet presAssocID="{04574C68-F74D-4AE9-8876-7AAA6D7F0C9F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F981764-DA1B-1C48-85B8-2EC2FE3B0323}" type="pres">
      <dgm:prSet presAssocID="{04574C68-F74D-4AE9-8876-7AAA6D7F0C9F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E709808-1393-1046-AEA0-96BDAE1A79BB}" type="pres">
      <dgm:prSet presAssocID="{04574C68-F74D-4AE9-8876-7AAA6D7F0C9F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B29CC78-5368-FD4B-B5F6-98D93E4CDEA2}" type="pres">
      <dgm:prSet presAssocID="{04574C68-F74D-4AE9-8876-7AAA6D7F0C9F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2C06D10-AE17-45AD-8ED3-9EAC10D042DE}" srcId="{04574C68-F74D-4AE9-8876-7AAA6D7F0C9F}" destId="{43E7BBDA-6DA9-4B8A-B7B0-BAC39448ECC4}" srcOrd="2" destOrd="0" parTransId="{236A9862-4E03-4200-8282-A08D3BB834FC}" sibTransId="{59BD4F59-2480-4115-9389-B08E2F6A7964}"/>
    <dgm:cxn modelId="{45165013-EA15-4622-96AC-7989AE0A6293}" srcId="{04574C68-F74D-4AE9-8876-7AAA6D7F0C9F}" destId="{9335B778-168A-4A99-B6BC-1F862D7672B7}" srcOrd="1" destOrd="0" parTransId="{E9233089-07BD-4131-A800-C577DFF4E331}" sibTransId="{876DD377-53B3-481A-B361-06028C97159E}"/>
    <dgm:cxn modelId="{F6FA645B-B34F-DE44-8E6D-EDAFA94D21A5}" type="presOf" srcId="{2033BFDB-8754-4699-854C-804768CF2746}" destId="{C94AC59E-E353-C14C-8CD5-D6E3760AEFEC}" srcOrd="0" destOrd="0" presId="urn:microsoft.com/office/officeart/2005/8/layout/matrix2"/>
    <dgm:cxn modelId="{E717C570-7B25-4D3A-9E5D-CCA1975B1CD4}" srcId="{04574C68-F74D-4AE9-8876-7AAA6D7F0C9F}" destId="{BBCEF93C-024B-4250-97F1-919819F035ED}" srcOrd="3" destOrd="0" parTransId="{82D0160E-ECD2-4206-9149-E019E2429B82}" sibTransId="{020ECA42-9D3A-4213-84D7-151BAEE435E8}"/>
    <dgm:cxn modelId="{FB415879-D7D0-4BDB-9B7D-350E7884FAC7}" srcId="{04574C68-F74D-4AE9-8876-7AAA6D7F0C9F}" destId="{2033BFDB-8754-4699-854C-804768CF2746}" srcOrd="0" destOrd="0" parTransId="{9914673D-A712-47B1-B1A6-87084C6860D3}" sibTransId="{E64F7EF9-76AB-4DFB-80D3-C80668A9EC10}"/>
    <dgm:cxn modelId="{DE8C208E-1366-7B43-980A-F0A3B46A82B2}" type="presOf" srcId="{BBCEF93C-024B-4250-97F1-919819F035ED}" destId="{BB29CC78-5368-FD4B-B5F6-98D93E4CDEA2}" srcOrd="0" destOrd="0" presId="urn:microsoft.com/office/officeart/2005/8/layout/matrix2"/>
    <dgm:cxn modelId="{C151EB92-D11C-3E4A-A8A3-DDB7EBF8B0A6}" type="presOf" srcId="{04574C68-F74D-4AE9-8876-7AAA6D7F0C9F}" destId="{8B8643F5-4255-1147-AE69-D1C8D57EE3F1}" srcOrd="0" destOrd="0" presId="urn:microsoft.com/office/officeart/2005/8/layout/matrix2"/>
    <dgm:cxn modelId="{200E4BB8-7AD6-8C40-AC90-B4D3E19C9C75}" type="presOf" srcId="{9335B778-168A-4A99-B6BC-1F862D7672B7}" destId="{BF981764-DA1B-1C48-85B8-2EC2FE3B0323}" srcOrd="0" destOrd="0" presId="urn:microsoft.com/office/officeart/2005/8/layout/matrix2"/>
    <dgm:cxn modelId="{088F20CA-7926-FB45-B661-97A09C1E0EC8}" type="presOf" srcId="{43E7BBDA-6DA9-4B8A-B7B0-BAC39448ECC4}" destId="{BE709808-1393-1046-AEA0-96BDAE1A79BB}" srcOrd="0" destOrd="0" presId="urn:microsoft.com/office/officeart/2005/8/layout/matrix2"/>
    <dgm:cxn modelId="{A386180A-3D9C-7940-B5D6-0F4AABB17781}" type="presParOf" srcId="{8B8643F5-4255-1147-AE69-D1C8D57EE3F1}" destId="{439A1876-96D3-0F48-9A6D-1AC599E88B2A}" srcOrd="0" destOrd="0" presId="urn:microsoft.com/office/officeart/2005/8/layout/matrix2"/>
    <dgm:cxn modelId="{B7B40D34-B175-8D4B-973E-4A720F73C04F}" type="presParOf" srcId="{8B8643F5-4255-1147-AE69-D1C8D57EE3F1}" destId="{C94AC59E-E353-C14C-8CD5-D6E3760AEFEC}" srcOrd="1" destOrd="0" presId="urn:microsoft.com/office/officeart/2005/8/layout/matrix2"/>
    <dgm:cxn modelId="{D67095A7-A8E4-864E-B2DD-681B29B0E787}" type="presParOf" srcId="{8B8643F5-4255-1147-AE69-D1C8D57EE3F1}" destId="{BF981764-DA1B-1C48-85B8-2EC2FE3B0323}" srcOrd="2" destOrd="0" presId="urn:microsoft.com/office/officeart/2005/8/layout/matrix2"/>
    <dgm:cxn modelId="{43CAE187-6598-EF43-8D5A-67C68120D1B5}" type="presParOf" srcId="{8B8643F5-4255-1147-AE69-D1C8D57EE3F1}" destId="{BE709808-1393-1046-AEA0-96BDAE1A79BB}" srcOrd="3" destOrd="0" presId="urn:microsoft.com/office/officeart/2005/8/layout/matrix2"/>
    <dgm:cxn modelId="{AB8FF713-F2EB-CC44-8EEC-5A67CFB8712B}" type="presParOf" srcId="{8B8643F5-4255-1147-AE69-D1C8D57EE3F1}" destId="{BB29CC78-5368-FD4B-B5F6-98D93E4CDEA2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9EF20D-DE83-48BF-8D54-A380C697DCEB}" type="doc">
      <dgm:prSet loTypeId="urn:microsoft.com/office/officeart/2005/8/layout/hierarchy1" loCatId="hierarchy" qsTypeId="urn:microsoft.com/office/officeart/2005/8/quickstyle/simple4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CECA9F51-A7D9-453A-9315-AA933C9283FB}">
      <dgm:prSet/>
      <dgm:spPr/>
      <dgm:t>
        <a:bodyPr/>
        <a:lstStyle/>
        <a:p>
          <a:r>
            <a:rPr lang="en-US" b="1"/>
            <a:t>XceptionNet:</a:t>
          </a:r>
          <a:r>
            <a:rPr lang="en-US"/>
            <a:t> CNN with depthwise separable convolutions (pretrained on ImageNet).</a:t>
          </a:r>
        </a:p>
      </dgm:t>
    </dgm:pt>
    <dgm:pt modelId="{6A12B5F5-1A80-4508-A33A-B4F82F734AD7}" type="parTrans" cxnId="{5C96A85D-7D1D-49E0-B4CF-C241FA98481A}">
      <dgm:prSet/>
      <dgm:spPr/>
      <dgm:t>
        <a:bodyPr/>
        <a:lstStyle/>
        <a:p>
          <a:endParaRPr lang="en-US"/>
        </a:p>
      </dgm:t>
    </dgm:pt>
    <dgm:pt modelId="{10772BAC-E0D1-4970-97FE-B744168BC476}" type="sibTrans" cxnId="{5C96A85D-7D1D-49E0-B4CF-C241FA98481A}">
      <dgm:prSet/>
      <dgm:spPr/>
      <dgm:t>
        <a:bodyPr/>
        <a:lstStyle/>
        <a:p>
          <a:endParaRPr lang="en-US"/>
        </a:p>
      </dgm:t>
    </dgm:pt>
    <dgm:pt modelId="{88AC0898-1D16-4A8E-9CFD-C074C77D1D3F}">
      <dgm:prSet/>
      <dgm:spPr/>
      <dgm:t>
        <a:bodyPr/>
        <a:lstStyle/>
        <a:p>
          <a:r>
            <a:rPr lang="en-US" b="1"/>
            <a:t>Vision Transformer (ViT):</a:t>
          </a:r>
          <a:r>
            <a:rPr lang="en-US"/>
            <a:t> Divides image into patches and learns relationships via self-attention.</a:t>
          </a:r>
        </a:p>
      </dgm:t>
    </dgm:pt>
    <dgm:pt modelId="{B9ED73DD-F0E0-434B-A667-1DE3B8AAE2FB}" type="parTrans" cxnId="{93E807A3-44FD-4A9C-B285-55D347F449BF}">
      <dgm:prSet/>
      <dgm:spPr/>
      <dgm:t>
        <a:bodyPr/>
        <a:lstStyle/>
        <a:p>
          <a:endParaRPr lang="en-US"/>
        </a:p>
      </dgm:t>
    </dgm:pt>
    <dgm:pt modelId="{9B3779D3-0A71-430A-8C6D-041A078F098E}" type="sibTrans" cxnId="{93E807A3-44FD-4A9C-B285-55D347F449BF}">
      <dgm:prSet/>
      <dgm:spPr/>
      <dgm:t>
        <a:bodyPr/>
        <a:lstStyle/>
        <a:p>
          <a:endParaRPr lang="en-US"/>
        </a:p>
      </dgm:t>
    </dgm:pt>
    <dgm:pt modelId="{59CF3FCE-0DCC-413E-B70C-FAFDEABDA765}">
      <dgm:prSet/>
      <dgm:spPr/>
      <dgm:t>
        <a:bodyPr/>
        <a:lstStyle/>
        <a:p>
          <a:r>
            <a:rPr lang="en-US"/>
            <a:t>Trained using </a:t>
          </a:r>
          <a:r>
            <a:rPr lang="en-US" b="1"/>
            <a:t>Adam optimizer</a:t>
          </a:r>
          <a:r>
            <a:rPr lang="en-US"/>
            <a:t>, learning rate = 1e-4, </a:t>
          </a:r>
          <a:r>
            <a:rPr lang="en-US" b="1"/>
            <a:t>BCEWithLogitsLoss</a:t>
          </a:r>
          <a:r>
            <a:rPr lang="en-US"/>
            <a:t>, 20 epochs, mixed precision.</a:t>
          </a:r>
        </a:p>
      </dgm:t>
    </dgm:pt>
    <dgm:pt modelId="{408EC353-F3F4-4506-AE52-5262B8539BB3}" type="parTrans" cxnId="{7A844891-CD05-4754-A100-CC18386FD3E3}">
      <dgm:prSet/>
      <dgm:spPr/>
      <dgm:t>
        <a:bodyPr/>
        <a:lstStyle/>
        <a:p>
          <a:endParaRPr lang="en-US"/>
        </a:p>
      </dgm:t>
    </dgm:pt>
    <dgm:pt modelId="{DD4014A8-8014-4187-AD0B-618ECA226091}" type="sibTrans" cxnId="{7A844891-CD05-4754-A100-CC18386FD3E3}">
      <dgm:prSet/>
      <dgm:spPr/>
      <dgm:t>
        <a:bodyPr/>
        <a:lstStyle/>
        <a:p>
          <a:endParaRPr lang="en-US"/>
        </a:p>
      </dgm:t>
    </dgm:pt>
    <dgm:pt modelId="{21D01EC2-CA24-2D45-AF1A-7B357BE541AC}" type="pres">
      <dgm:prSet presAssocID="{8D9EF20D-DE83-48BF-8D54-A380C697DCE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3507D3B-BD71-AC40-81D1-B614755104BF}" type="pres">
      <dgm:prSet presAssocID="{CECA9F51-A7D9-453A-9315-AA933C9283FB}" presName="hierRoot1" presStyleCnt="0"/>
      <dgm:spPr/>
    </dgm:pt>
    <dgm:pt modelId="{41F9638E-2A78-FC43-9E44-32237A929BF0}" type="pres">
      <dgm:prSet presAssocID="{CECA9F51-A7D9-453A-9315-AA933C9283FB}" presName="composite" presStyleCnt="0"/>
      <dgm:spPr/>
    </dgm:pt>
    <dgm:pt modelId="{B65A1E22-66CC-0D47-9D53-EE27696402D8}" type="pres">
      <dgm:prSet presAssocID="{CECA9F51-A7D9-453A-9315-AA933C9283FB}" presName="background" presStyleLbl="node0" presStyleIdx="0" presStyleCnt="3"/>
      <dgm:spPr/>
    </dgm:pt>
    <dgm:pt modelId="{4750FCE8-D485-A543-9CDF-722E55AE0E0D}" type="pres">
      <dgm:prSet presAssocID="{CECA9F51-A7D9-453A-9315-AA933C9283FB}" presName="text" presStyleLbl="fgAcc0" presStyleIdx="0" presStyleCnt="3">
        <dgm:presLayoutVars>
          <dgm:chPref val="3"/>
        </dgm:presLayoutVars>
      </dgm:prSet>
      <dgm:spPr/>
    </dgm:pt>
    <dgm:pt modelId="{AB4BE56F-54D9-6643-A30A-795211F5BAED}" type="pres">
      <dgm:prSet presAssocID="{CECA9F51-A7D9-453A-9315-AA933C9283FB}" presName="hierChild2" presStyleCnt="0"/>
      <dgm:spPr/>
    </dgm:pt>
    <dgm:pt modelId="{8BAAB1BE-483B-2B4C-A2F3-F0CEBA083CD1}" type="pres">
      <dgm:prSet presAssocID="{88AC0898-1D16-4A8E-9CFD-C074C77D1D3F}" presName="hierRoot1" presStyleCnt="0"/>
      <dgm:spPr/>
    </dgm:pt>
    <dgm:pt modelId="{E854381D-E23E-844B-81B3-779288167E4D}" type="pres">
      <dgm:prSet presAssocID="{88AC0898-1D16-4A8E-9CFD-C074C77D1D3F}" presName="composite" presStyleCnt="0"/>
      <dgm:spPr/>
    </dgm:pt>
    <dgm:pt modelId="{65351FE7-50E9-214C-BA54-926087087A7C}" type="pres">
      <dgm:prSet presAssocID="{88AC0898-1D16-4A8E-9CFD-C074C77D1D3F}" presName="background" presStyleLbl="node0" presStyleIdx="1" presStyleCnt="3"/>
      <dgm:spPr/>
    </dgm:pt>
    <dgm:pt modelId="{85D8830F-58EE-DE4C-A3C6-6C9258CC7EB3}" type="pres">
      <dgm:prSet presAssocID="{88AC0898-1D16-4A8E-9CFD-C074C77D1D3F}" presName="text" presStyleLbl="fgAcc0" presStyleIdx="1" presStyleCnt="3">
        <dgm:presLayoutVars>
          <dgm:chPref val="3"/>
        </dgm:presLayoutVars>
      </dgm:prSet>
      <dgm:spPr/>
    </dgm:pt>
    <dgm:pt modelId="{E09394D7-FB85-1240-9B7F-E546E901C167}" type="pres">
      <dgm:prSet presAssocID="{88AC0898-1D16-4A8E-9CFD-C074C77D1D3F}" presName="hierChild2" presStyleCnt="0"/>
      <dgm:spPr/>
    </dgm:pt>
    <dgm:pt modelId="{55952E77-7C9F-964D-970C-D3F710CB828D}" type="pres">
      <dgm:prSet presAssocID="{59CF3FCE-0DCC-413E-B70C-FAFDEABDA765}" presName="hierRoot1" presStyleCnt="0"/>
      <dgm:spPr/>
    </dgm:pt>
    <dgm:pt modelId="{A782D5F3-9621-C94D-9A5B-4EFD73649E5D}" type="pres">
      <dgm:prSet presAssocID="{59CF3FCE-0DCC-413E-B70C-FAFDEABDA765}" presName="composite" presStyleCnt="0"/>
      <dgm:spPr/>
    </dgm:pt>
    <dgm:pt modelId="{304B9CB2-9446-C44B-BD27-B046033BFF30}" type="pres">
      <dgm:prSet presAssocID="{59CF3FCE-0DCC-413E-B70C-FAFDEABDA765}" presName="background" presStyleLbl="node0" presStyleIdx="2" presStyleCnt="3"/>
      <dgm:spPr/>
    </dgm:pt>
    <dgm:pt modelId="{8616E698-95DC-7E45-9CB1-C194F2B08E26}" type="pres">
      <dgm:prSet presAssocID="{59CF3FCE-0DCC-413E-B70C-FAFDEABDA765}" presName="text" presStyleLbl="fgAcc0" presStyleIdx="2" presStyleCnt="3">
        <dgm:presLayoutVars>
          <dgm:chPref val="3"/>
        </dgm:presLayoutVars>
      </dgm:prSet>
      <dgm:spPr/>
    </dgm:pt>
    <dgm:pt modelId="{B70E34C4-B8ED-0B4C-9884-71AE433358A5}" type="pres">
      <dgm:prSet presAssocID="{59CF3FCE-0DCC-413E-B70C-FAFDEABDA765}" presName="hierChild2" presStyleCnt="0"/>
      <dgm:spPr/>
    </dgm:pt>
  </dgm:ptLst>
  <dgm:cxnLst>
    <dgm:cxn modelId="{F8EA1D09-C9D3-DA44-8281-FEE6B1FC8C5F}" type="presOf" srcId="{88AC0898-1D16-4A8E-9CFD-C074C77D1D3F}" destId="{85D8830F-58EE-DE4C-A3C6-6C9258CC7EB3}" srcOrd="0" destOrd="0" presId="urn:microsoft.com/office/officeart/2005/8/layout/hierarchy1"/>
    <dgm:cxn modelId="{D63EE452-4352-204D-AF91-52B4F6CD3627}" type="presOf" srcId="{8D9EF20D-DE83-48BF-8D54-A380C697DCEB}" destId="{21D01EC2-CA24-2D45-AF1A-7B357BE541AC}" srcOrd="0" destOrd="0" presId="urn:microsoft.com/office/officeart/2005/8/layout/hierarchy1"/>
    <dgm:cxn modelId="{5C96A85D-7D1D-49E0-B4CF-C241FA98481A}" srcId="{8D9EF20D-DE83-48BF-8D54-A380C697DCEB}" destId="{CECA9F51-A7D9-453A-9315-AA933C9283FB}" srcOrd="0" destOrd="0" parTransId="{6A12B5F5-1A80-4508-A33A-B4F82F734AD7}" sibTransId="{10772BAC-E0D1-4970-97FE-B744168BC476}"/>
    <dgm:cxn modelId="{7A844891-CD05-4754-A100-CC18386FD3E3}" srcId="{8D9EF20D-DE83-48BF-8D54-A380C697DCEB}" destId="{59CF3FCE-0DCC-413E-B70C-FAFDEABDA765}" srcOrd="2" destOrd="0" parTransId="{408EC353-F3F4-4506-AE52-5262B8539BB3}" sibTransId="{DD4014A8-8014-4187-AD0B-618ECA226091}"/>
    <dgm:cxn modelId="{E916E89B-4F55-0741-89B1-D53FF5A33A3B}" type="presOf" srcId="{59CF3FCE-0DCC-413E-B70C-FAFDEABDA765}" destId="{8616E698-95DC-7E45-9CB1-C194F2B08E26}" srcOrd="0" destOrd="0" presId="urn:microsoft.com/office/officeart/2005/8/layout/hierarchy1"/>
    <dgm:cxn modelId="{93E807A3-44FD-4A9C-B285-55D347F449BF}" srcId="{8D9EF20D-DE83-48BF-8D54-A380C697DCEB}" destId="{88AC0898-1D16-4A8E-9CFD-C074C77D1D3F}" srcOrd="1" destOrd="0" parTransId="{B9ED73DD-F0E0-434B-A667-1DE3B8AAE2FB}" sibTransId="{9B3779D3-0A71-430A-8C6D-041A078F098E}"/>
    <dgm:cxn modelId="{64B231C9-5211-044E-8733-8A0C0431E7DB}" type="presOf" srcId="{CECA9F51-A7D9-453A-9315-AA933C9283FB}" destId="{4750FCE8-D485-A543-9CDF-722E55AE0E0D}" srcOrd="0" destOrd="0" presId="urn:microsoft.com/office/officeart/2005/8/layout/hierarchy1"/>
    <dgm:cxn modelId="{6C2115C9-62B5-9243-9DF0-CF04083B92CE}" type="presParOf" srcId="{21D01EC2-CA24-2D45-AF1A-7B357BE541AC}" destId="{13507D3B-BD71-AC40-81D1-B614755104BF}" srcOrd="0" destOrd="0" presId="urn:microsoft.com/office/officeart/2005/8/layout/hierarchy1"/>
    <dgm:cxn modelId="{3C1A8663-3CD0-4E41-B11C-F0363913F4EB}" type="presParOf" srcId="{13507D3B-BD71-AC40-81D1-B614755104BF}" destId="{41F9638E-2A78-FC43-9E44-32237A929BF0}" srcOrd="0" destOrd="0" presId="urn:microsoft.com/office/officeart/2005/8/layout/hierarchy1"/>
    <dgm:cxn modelId="{9BEC6025-6153-2448-9958-924F3C57C48E}" type="presParOf" srcId="{41F9638E-2A78-FC43-9E44-32237A929BF0}" destId="{B65A1E22-66CC-0D47-9D53-EE27696402D8}" srcOrd="0" destOrd="0" presId="urn:microsoft.com/office/officeart/2005/8/layout/hierarchy1"/>
    <dgm:cxn modelId="{3706DF06-5886-0E44-9C46-37C3061DC6B8}" type="presParOf" srcId="{41F9638E-2A78-FC43-9E44-32237A929BF0}" destId="{4750FCE8-D485-A543-9CDF-722E55AE0E0D}" srcOrd="1" destOrd="0" presId="urn:microsoft.com/office/officeart/2005/8/layout/hierarchy1"/>
    <dgm:cxn modelId="{F1EC742F-4A58-3A4C-AAA4-F677FB3BDFB3}" type="presParOf" srcId="{13507D3B-BD71-AC40-81D1-B614755104BF}" destId="{AB4BE56F-54D9-6643-A30A-795211F5BAED}" srcOrd="1" destOrd="0" presId="urn:microsoft.com/office/officeart/2005/8/layout/hierarchy1"/>
    <dgm:cxn modelId="{EBC17596-5FC7-B443-92CB-565A48B3EE58}" type="presParOf" srcId="{21D01EC2-CA24-2D45-AF1A-7B357BE541AC}" destId="{8BAAB1BE-483B-2B4C-A2F3-F0CEBA083CD1}" srcOrd="1" destOrd="0" presId="urn:microsoft.com/office/officeart/2005/8/layout/hierarchy1"/>
    <dgm:cxn modelId="{CB4D7A20-5C79-9D4E-8992-6736A7719E6F}" type="presParOf" srcId="{8BAAB1BE-483B-2B4C-A2F3-F0CEBA083CD1}" destId="{E854381D-E23E-844B-81B3-779288167E4D}" srcOrd="0" destOrd="0" presId="urn:microsoft.com/office/officeart/2005/8/layout/hierarchy1"/>
    <dgm:cxn modelId="{FDF812DB-6BD4-0D4E-9EC3-3BD9A7B948C1}" type="presParOf" srcId="{E854381D-E23E-844B-81B3-779288167E4D}" destId="{65351FE7-50E9-214C-BA54-926087087A7C}" srcOrd="0" destOrd="0" presId="urn:microsoft.com/office/officeart/2005/8/layout/hierarchy1"/>
    <dgm:cxn modelId="{F67C6CA1-C5C9-4C4D-81C4-A548F8C96C0B}" type="presParOf" srcId="{E854381D-E23E-844B-81B3-779288167E4D}" destId="{85D8830F-58EE-DE4C-A3C6-6C9258CC7EB3}" srcOrd="1" destOrd="0" presId="urn:microsoft.com/office/officeart/2005/8/layout/hierarchy1"/>
    <dgm:cxn modelId="{E4794C81-98F8-994C-9B56-75BE963AEA35}" type="presParOf" srcId="{8BAAB1BE-483B-2B4C-A2F3-F0CEBA083CD1}" destId="{E09394D7-FB85-1240-9B7F-E546E901C167}" srcOrd="1" destOrd="0" presId="urn:microsoft.com/office/officeart/2005/8/layout/hierarchy1"/>
    <dgm:cxn modelId="{88B0625D-0E21-1647-8C6C-4EB2D82AD11A}" type="presParOf" srcId="{21D01EC2-CA24-2D45-AF1A-7B357BE541AC}" destId="{55952E77-7C9F-964D-970C-D3F710CB828D}" srcOrd="2" destOrd="0" presId="urn:microsoft.com/office/officeart/2005/8/layout/hierarchy1"/>
    <dgm:cxn modelId="{12D6FEED-0AD0-D845-92FB-729E78AEA42A}" type="presParOf" srcId="{55952E77-7C9F-964D-970C-D3F710CB828D}" destId="{A782D5F3-9621-C94D-9A5B-4EFD73649E5D}" srcOrd="0" destOrd="0" presId="urn:microsoft.com/office/officeart/2005/8/layout/hierarchy1"/>
    <dgm:cxn modelId="{4A3C5BCA-54AF-F04F-BC5C-CA95547080B0}" type="presParOf" srcId="{A782D5F3-9621-C94D-9A5B-4EFD73649E5D}" destId="{304B9CB2-9446-C44B-BD27-B046033BFF30}" srcOrd="0" destOrd="0" presId="urn:microsoft.com/office/officeart/2005/8/layout/hierarchy1"/>
    <dgm:cxn modelId="{8E751A3F-97CA-3643-B8A1-051C6AC7DECF}" type="presParOf" srcId="{A782D5F3-9621-C94D-9A5B-4EFD73649E5D}" destId="{8616E698-95DC-7E45-9CB1-C194F2B08E26}" srcOrd="1" destOrd="0" presId="urn:microsoft.com/office/officeart/2005/8/layout/hierarchy1"/>
    <dgm:cxn modelId="{C9844E23-4DAF-8A4A-91A4-54DF82F64FBC}" type="presParOf" srcId="{55952E77-7C9F-964D-970C-D3F710CB828D}" destId="{B70E34C4-B8ED-0B4C-9884-71AE433358A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10C77C5-33CD-4FCC-A0BF-956D5FC0EB99}" type="doc">
      <dgm:prSet loTypeId="urn:microsoft.com/office/officeart/2005/8/layout/hierarchy1" loCatId="hierarchy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7CE0731-513A-481E-A384-7F4A70384DE5}">
      <dgm:prSet/>
      <dgm:spPr/>
      <dgm:t>
        <a:bodyPr/>
        <a:lstStyle/>
        <a:p>
          <a:r>
            <a:rPr lang="en-US" b="1"/>
            <a:t>GAN-based Adversarial Training</a:t>
          </a:r>
          <a:r>
            <a:rPr lang="en-US"/>
            <a:t> – generate challenging fakes (StyleGAN, Diffusion)</a:t>
          </a:r>
        </a:p>
      </dgm:t>
    </dgm:pt>
    <dgm:pt modelId="{D3E4F50F-FC78-4D2F-BE7C-1F11690F5BBA}" type="parTrans" cxnId="{E137B954-CB26-484B-B9BA-A201613F5088}">
      <dgm:prSet/>
      <dgm:spPr/>
      <dgm:t>
        <a:bodyPr/>
        <a:lstStyle/>
        <a:p>
          <a:endParaRPr lang="en-US"/>
        </a:p>
      </dgm:t>
    </dgm:pt>
    <dgm:pt modelId="{9A018CBA-62CA-4D56-8D21-F5048D585C51}" type="sibTrans" cxnId="{E137B954-CB26-484B-B9BA-A201613F5088}">
      <dgm:prSet/>
      <dgm:spPr/>
      <dgm:t>
        <a:bodyPr/>
        <a:lstStyle/>
        <a:p>
          <a:endParaRPr lang="en-US"/>
        </a:p>
      </dgm:t>
    </dgm:pt>
    <dgm:pt modelId="{3A4DC7C0-CE68-4C1B-AA76-400DC7C2B84A}">
      <dgm:prSet/>
      <dgm:spPr/>
      <dgm:t>
        <a:bodyPr/>
        <a:lstStyle/>
        <a:p>
          <a:r>
            <a:rPr lang="en-US" b="1"/>
            <a:t>GAN Discriminator Reuse</a:t>
          </a:r>
          <a:r>
            <a:rPr lang="en-US"/>
            <a:t> – use pretrained discriminators for detection</a:t>
          </a:r>
        </a:p>
      </dgm:t>
    </dgm:pt>
    <dgm:pt modelId="{BAC69379-C69B-482D-8E5A-601ED17F36ED}" type="parTrans" cxnId="{E30996A9-1FCC-4010-9A0D-AE56383970FF}">
      <dgm:prSet/>
      <dgm:spPr/>
      <dgm:t>
        <a:bodyPr/>
        <a:lstStyle/>
        <a:p>
          <a:endParaRPr lang="en-US"/>
        </a:p>
      </dgm:t>
    </dgm:pt>
    <dgm:pt modelId="{5FBCEA75-B972-4220-96A4-748E47F3C3B0}" type="sibTrans" cxnId="{E30996A9-1FCC-4010-9A0D-AE56383970FF}">
      <dgm:prSet/>
      <dgm:spPr/>
      <dgm:t>
        <a:bodyPr/>
        <a:lstStyle/>
        <a:p>
          <a:endParaRPr lang="en-US"/>
        </a:p>
      </dgm:t>
    </dgm:pt>
    <dgm:pt modelId="{51980EF5-ED5F-4D54-A7EB-694480897934}">
      <dgm:prSet/>
      <dgm:spPr/>
      <dgm:t>
        <a:bodyPr/>
        <a:lstStyle/>
        <a:p>
          <a:r>
            <a:rPr lang="en-US" b="1"/>
            <a:t>Multimodal Fusion</a:t>
          </a:r>
          <a:r>
            <a:rPr lang="en-US"/>
            <a:t> – integrate audio, text, visual cues</a:t>
          </a:r>
        </a:p>
      </dgm:t>
    </dgm:pt>
    <dgm:pt modelId="{3CCDEDA5-F0C0-4DBF-A115-E2F980D0B553}" type="parTrans" cxnId="{E100920C-AAE2-4667-BFE4-B40FFBB74B66}">
      <dgm:prSet/>
      <dgm:spPr/>
      <dgm:t>
        <a:bodyPr/>
        <a:lstStyle/>
        <a:p>
          <a:endParaRPr lang="en-US"/>
        </a:p>
      </dgm:t>
    </dgm:pt>
    <dgm:pt modelId="{A1767EDD-C44D-4FE5-B232-44443B65A903}" type="sibTrans" cxnId="{E100920C-AAE2-4667-BFE4-B40FFBB74B66}">
      <dgm:prSet/>
      <dgm:spPr/>
      <dgm:t>
        <a:bodyPr/>
        <a:lstStyle/>
        <a:p>
          <a:endParaRPr lang="en-US"/>
        </a:p>
      </dgm:t>
    </dgm:pt>
    <dgm:pt modelId="{6C30BB27-5C43-47AB-A71B-2679B833FF8A}">
      <dgm:prSet/>
      <dgm:spPr/>
      <dgm:t>
        <a:bodyPr/>
        <a:lstStyle/>
        <a:p>
          <a:r>
            <a:rPr lang="en-US" b="1"/>
            <a:t>Graph Neural Networks (GNNs)</a:t>
          </a:r>
          <a:r>
            <a:rPr lang="en-US"/>
            <a:t> – model deepfake propagation on social platforms</a:t>
          </a:r>
        </a:p>
      </dgm:t>
    </dgm:pt>
    <dgm:pt modelId="{63EFB835-7E08-456E-BDF8-B09B69F9B46B}" type="parTrans" cxnId="{7C47CB56-862E-40E6-95D5-EF79EE405F8A}">
      <dgm:prSet/>
      <dgm:spPr/>
      <dgm:t>
        <a:bodyPr/>
        <a:lstStyle/>
        <a:p>
          <a:endParaRPr lang="en-US"/>
        </a:p>
      </dgm:t>
    </dgm:pt>
    <dgm:pt modelId="{6F178710-0E70-4A69-948C-15B45D9BD43D}" type="sibTrans" cxnId="{7C47CB56-862E-40E6-95D5-EF79EE405F8A}">
      <dgm:prSet/>
      <dgm:spPr/>
      <dgm:t>
        <a:bodyPr/>
        <a:lstStyle/>
        <a:p>
          <a:endParaRPr lang="en-US"/>
        </a:p>
      </dgm:t>
    </dgm:pt>
    <dgm:pt modelId="{0B94A19A-9E4E-2548-B4AE-EC87CF2EA900}" type="pres">
      <dgm:prSet presAssocID="{C10C77C5-33CD-4FCC-A0BF-956D5FC0EB9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D5C1D51-54B0-964B-AC5C-DCC3E816ADE5}" type="pres">
      <dgm:prSet presAssocID="{17CE0731-513A-481E-A384-7F4A70384DE5}" presName="hierRoot1" presStyleCnt="0"/>
      <dgm:spPr/>
    </dgm:pt>
    <dgm:pt modelId="{0E6DBF69-6848-474D-A4F2-4721EF0CA92E}" type="pres">
      <dgm:prSet presAssocID="{17CE0731-513A-481E-A384-7F4A70384DE5}" presName="composite" presStyleCnt="0"/>
      <dgm:spPr/>
    </dgm:pt>
    <dgm:pt modelId="{56209C1C-B944-E241-B20C-7EF11F58EBE9}" type="pres">
      <dgm:prSet presAssocID="{17CE0731-513A-481E-A384-7F4A70384DE5}" presName="background" presStyleLbl="node0" presStyleIdx="0" presStyleCnt="4"/>
      <dgm:spPr/>
    </dgm:pt>
    <dgm:pt modelId="{3C084BFC-281A-DE4C-A5D7-6A072811B227}" type="pres">
      <dgm:prSet presAssocID="{17CE0731-513A-481E-A384-7F4A70384DE5}" presName="text" presStyleLbl="fgAcc0" presStyleIdx="0" presStyleCnt="4">
        <dgm:presLayoutVars>
          <dgm:chPref val="3"/>
        </dgm:presLayoutVars>
      </dgm:prSet>
      <dgm:spPr/>
    </dgm:pt>
    <dgm:pt modelId="{D601EDBF-F511-2249-81A6-EED29956A3B9}" type="pres">
      <dgm:prSet presAssocID="{17CE0731-513A-481E-A384-7F4A70384DE5}" presName="hierChild2" presStyleCnt="0"/>
      <dgm:spPr/>
    </dgm:pt>
    <dgm:pt modelId="{9DC76063-82C4-A141-9EF3-BA5CBD721E94}" type="pres">
      <dgm:prSet presAssocID="{3A4DC7C0-CE68-4C1B-AA76-400DC7C2B84A}" presName="hierRoot1" presStyleCnt="0"/>
      <dgm:spPr/>
    </dgm:pt>
    <dgm:pt modelId="{3526B4CA-63D9-7647-B1EF-095F978BBE58}" type="pres">
      <dgm:prSet presAssocID="{3A4DC7C0-CE68-4C1B-AA76-400DC7C2B84A}" presName="composite" presStyleCnt="0"/>
      <dgm:spPr/>
    </dgm:pt>
    <dgm:pt modelId="{AAB4E074-32A4-B747-B2CE-FEA5982FAC21}" type="pres">
      <dgm:prSet presAssocID="{3A4DC7C0-CE68-4C1B-AA76-400DC7C2B84A}" presName="background" presStyleLbl="node0" presStyleIdx="1" presStyleCnt="4"/>
      <dgm:spPr/>
    </dgm:pt>
    <dgm:pt modelId="{62D2E170-D693-DC46-B6E4-1410927993EC}" type="pres">
      <dgm:prSet presAssocID="{3A4DC7C0-CE68-4C1B-AA76-400DC7C2B84A}" presName="text" presStyleLbl="fgAcc0" presStyleIdx="1" presStyleCnt="4">
        <dgm:presLayoutVars>
          <dgm:chPref val="3"/>
        </dgm:presLayoutVars>
      </dgm:prSet>
      <dgm:spPr/>
    </dgm:pt>
    <dgm:pt modelId="{38240747-FDB2-EE47-859F-2122C7B654B0}" type="pres">
      <dgm:prSet presAssocID="{3A4DC7C0-CE68-4C1B-AA76-400DC7C2B84A}" presName="hierChild2" presStyleCnt="0"/>
      <dgm:spPr/>
    </dgm:pt>
    <dgm:pt modelId="{BB43B2CD-4B11-5044-BA2E-052E7E51509F}" type="pres">
      <dgm:prSet presAssocID="{51980EF5-ED5F-4D54-A7EB-694480897934}" presName="hierRoot1" presStyleCnt="0"/>
      <dgm:spPr/>
    </dgm:pt>
    <dgm:pt modelId="{7055B0A1-EB01-2D47-B21F-EDC21054B34D}" type="pres">
      <dgm:prSet presAssocID="{51980EF5-ED5F-4D54-A7EB-694480897934}" presName="composite" presStyleCnt="0"/>
      <dgm:spPr/>
    </dgm:pt>
    <dgm:pt modelId="{F3A2D262-5FD3-434E-A1FB-C2643846E3A2}" type="pres">
      <dgm:prSet presAssocID="{51980EF5-ED5F-4D54-A7EB-694480897934}" presName="background" presStyleLbl="node0" presStyleIdx="2" presStyleCnt="4"/>
      <dgm:spPr/>
    </dgm:pt>
    <dgm:pt modelId="{00037675-E5D7-0B4C-BC7F-C48F29358BF6}" type="pres">
      <dgm:prSet presAssocID="{51980EF5-ED5F-4D54-A7EB-694480897934}" presName="text" presStyleLbl="fgAcc0" presStyleIdx="2" presStyleCnt="4">
        <dgm:presLayoutVars>
          <dgm:chPref val="3"/>
        </dgm:presLayoutVars>
      </dgm:prSet>
      <dgm:spPr/>
    </dgm:pt>
    <dgm:pt modelId="{51D2913C-04CB-A14D-9896-098DE416CA06}" type="pres">
      <dgm:prSet presAssocID="{51980EF5-ED5F-4D54-A7EB-694480897934}" presName="hierChild2" presStyleCnt="0"/>
      <dgm:spPr/>
    </dgm:pt>
    <dgm:pt modelId="{220E3021-ED7A-CF43-8E2E-00B916CA09E1}" type="pres">
      <dgm:prSet presAssocID="{6C30BB27-5C43-47AB-A71B-2679B833FF8A}" presName="hierRoot1" presStyleCnt="0"/>
      <dgm:spPr/>
    </dgm:pt>
    <dgm:pt modelId="{1ACC16BE-4B38-EF4B-A8DD-DE50BE42945E}" type="pres">
      <dgm:prSet presAssocID="{6C30BB27-5C43-47AB-A71B-2679B833FF8A}" presName="composite" presStyleCnt="0"/>
      <dgm:spPr/>
    </dgm:pt>
    <dgm:pt modelId="{A4ED20F1-E176-E84E-954B-5A7A67A6D168}" type="pres">
      <dgm:prSet presAssocID="{6C30BB27-5C43-47AB-A71B-2679B833FF8A}" presName="background" presStyleLbl="node0" presStyleIdx="3" presStyleCnt="4"/>
      <dgm:spPr/>
    </dgm:pt>
    <dgm:pt modelId="{D6447324-17C8-2848-B7BC-1DD018C10053}" type="pres">
      <dgm:prSet presAssocID="{6C30BB27-5C43-47AB-A71B-2679B833FF8A}" presName="text" presStyleLbl="fgAcc0" presStyleIdx="3" presStyleCnt="4">
        <dgm:presLayoutVars>
          <dgm:chPref val="3"/>
        </dgm:presLayoutVars>
      </dgm:prSet>
      <dgm:spPr/>
    </dgm:pt>
    <dgm:pt modelId="{88F1604F-54BC-774B-8314-330B498FF009}" type="pres">
      <dgm:prSet presAssocID="{6C30BB27-5C43-47AB-A71B-2679B833FF8A}" presName="hierChild2" presStyleCnt="0"/>
      <dgm:spPr/>
    </dgm:pt>
  </dgm:ptLst>
  <dgm:cxnLst>
    <dgm:cxn modelId="{E100920C-AAE2-4667-BFE4-B40FFBB74B66}" srcId="{C10C77C5-33CD-4FCC-A0BF-956D5FC0EB99}" destId="{51980EF5-ED5F-4D54-A7EB-694480897934}" srcOrd="2" destOrd="0" parTransId="{3CCDEDA5-F0C0-4DBF-A115-E2F980D0B553}" sibTransId="{A1767EDD-C44D-4FE5-B232-44443B65A903}"/>
    <dgm:cxn modelId="{90E3691E-F35E-604B-8C42-F79B8E7533C0}" type="presOf" srcId="{C10C77C5-33CD-4FCC-A0BF-956D5FC0EB99}" destId="{0B94A19A-9E4E-2548-B4AE-EC87CF2EA900}" srcOrd="0" destOrd="0" presId="urn:microsoft.com/office/officeart/2005/8/layout/hierarchy1"/>
    <dgm:cxn modelId="{8FBE8A36-3309-8A4C-92CA-68A27756D30B}" type="presOf" srcId="{17CE0731-513A-481E-A384-7F4A70384DE5}" destId="{3C084BFC-281A-DE4C-A5D7-6A072811B227}" srcOrd="0" destOrd="0" presId="urn:microsoft.com/office/officeart/2005/8/layout/hierarchy1"/>
    <dgm:cxn modelId="{E137B954-CB26-484B-B9BA-A201613F5088}" srcId="{C10C77C5-33CD-4FCC-A0BF-956D5FC0EB99}" destId="{17CE0731-513A-481E-A384-7F4A70384DE5}" srcOrd="0" destOrd="0" parTransId="{D3E4F50F-FC78-4D2F-BE7C-1F11690F5BBA}" sibTransId="{9A018CBA-62CA-4D56-8D21-F5048D585C51}"/>
    <dgm:cxn modelId="{7C47CB56-862E-40E6-95D5-EF79EE405F8A}" srcId="{C10C77C5-33CD-4FCC-A0BF-956D5FC0EB99}" destId="{6C30BB27-5C43-47AB-A71B-2679B833FF8A}" srcOrd="3" destOrd="0" parTransId="{63EFB835-7E08-456E-BDF8-B09B69F9B46B}" sibTransId="{6F178710-0E70-4A69-948C-15B45D9BD43D}"/>
    <dgm:cxn modelId="{A3E3295D-1DFD-C14F-A1F2-6C1034762A81}" type="presOf" srcId="{51980EF5-ED5F-4D54-A7EB-694480897934}" destId="{00037675-E5D7-0B4C-BC7F-C48F29358BF6}" srcOrd="0" destOrd="0" presId="urn:microsoft.com/office/officeart/2005/8/layout/hierarchy1"/>
    <dgm:cxn modelId="{AD91519A-6579-E546-AE8D-D12AC53AD4C7}" type="presOf" srcId="{3A4DC7C0-CE68-4C1B-AA76-400DC7C2B84A}" destId="{62D2E170-D693-DC46-B6E4-1410927993EC}" srcOrd="0" destOrd="0" presId="urn:microsoft.com/office/officeart/2005/8/layout/hierarchy1"/>
    <dgm:cxn modelId="{E30996A9-1FCC-4010-9A0D-AE56383970FF}" srcId="{C10C77C5-33CD-4FCC-A0BF-956D5FC0EB99}" destId="{3A4DC7C0-CE68-4C1B-AA76-400DC7C2B84A}" srcOrd="1" destOrd="0" parTransId="{BAC69379-C69B-482D-8E5A-601ED17F36ED}" sibTransId="{5FBCEA75-B972-4220-96A4-748E47F3C3B0}"/>
    <dgm:cxn modelId="{6AAC47C9-7EEA-3E4E-924B-1D0CE567F154}" type="presOf" srcId="{6C30BB27-5C43-47AB-A71B-2679B833FF8A}" destId="{D6447324-17C8-2848-B7BC-1DD018C10053}" srcOrd="0" destOrd="0" presId="urn:microsoft.com/office/officeart/2005/8/layout/hierarchy1"/>
    <dgm:cxn modelId="{66D8DE89-3FA4-A346-A588-02B81CC088C8}" type="presParOf" srcId="{0B94A19A-9E4E-2548-B4AE-EC87CF2EA900}" destId="{FD5C1D51-54B0-964B-AC5C-DCC3E816ADE5}" srcOrd="0" destOrd="0" presId="urn:microsoft.com/office/officeart/2005/8/layout/hierarchy1"/>
    <dgm:cxn modelId="{9B891ADD-31C6-E048-AD40-C57A08F49DE4}" type="presParOf" srcId="{FD5C1D51-54B0-964B-AC5C-DCC3E816ADE5}" destId="{0E6DBF69-6848-474D-A4F2-4721EF0CA92E}" srcOrd="0" destOrd="0" presId="urn:microsoft.com/office/officeart/2005/8/layout/hierarchy1"/>
    <dgm:cxn modelId="{C2EA086F-4F4E-7B46-90C1-996A9E91B86C}" type="presParOf" srcId="{0E6DBF69-6848-474D-A4F2-4721EF0CA92E}" destId="{56209C1C-B944-E241-B20C-7EF11F58EBE9}" srcOrd="0" destOrd="0" presId="urn:microsoft.com/office/officeart/2005/8/layout/hierarchy1"/>
    <dgm:cxn modelId="{4DBBD5E6-9A08-D54B-AC7B-6027418962B4}" type="presParOf" srcId="{0E6DBF69-6848-474D-A4F2-4721EF0CA92E}" destId="{3C084BFC-281A-DE4C-A5D7-6A072811B227}" srcOrd="1" destOrd="0" presId="urn:microsoft.com/office/officeart/2005/8/layout/hierarchy1"/>
    <dgm:cxn modelId="{31D79C5F-7505-F044-A5C7-35CE9964C364}" type="presParOf" srcId="{FD5C1D51-54B0-964B-AC5C-DCC3E816ADE5}" destId="{D601EDBF-F511-2249-81A6-EED29956A3B9}" srcOrd="1" destOrd="0" presId="urn:microsoft.com/office/officeart/2005/8/layout/hierarchy1"/>
    <dgm:cxn modelId="{461711F4-C94E-6F45-8AE3-1FE7256F4FAA}" type="presParOf" srcId="{0B94A19A-9E4E-2548-B4AE-EC87CF2EA900}" destId="{9DC76063-82C4-A141-9EF3-BA5CBD721E94}" srcOrd="1" destOrd="0" presId="urn:microsoft.com/office/officeart/2005/8/layout/hierarchy1"/>
    <dgm:cxn modelId="{F97C4EBD-403C-E94A-8ACA-B2AD8C2639A2}" type="presParOf" srcId="{9DC76063-82C4-A141-9EF3-BA5CBD721E94}" destId="{3526B4CA-63D9-7647-B1EF-095F978BBE58}" srcOrd="0" destOrd="0" presId="urn:microsoft.com/office/officeart/2005/8/layout/hierarchy1"/>
    <dgm:cxn modelId="{DC46B96F-EE0C-5646-A653-8FE98A181B60}" type="presParOf" srcId="{3526B4CA-63D9-7647-B1EF-095F978BBE58}" destId="{AAB4E074-32A4-B747-B2CE-FEA5982FAC21}" srcOrd="0" destOrd="0" presId="urn:microsoft.com/office/officeart/2005/8/layout/hierarchy1"/>
    <dgm:cxn modelId="{1D238BE3-92AD-4845-8185-AE9624CA4675}" type="presParOf" srcId="{3526B4CA-63D9-7647-B1EF-095F978BBE58}" destId="{62D2E170-D693-DC46-B6E4-1410927993EC}" srcOrd="1" destOrd="0" presId="urn:microsoft.com/office/officeart/2005/8/layout/hierarchy1"/>
    <dgm:cxn modelId="{A337DAA1-0029-034B-8402-9AACA3B5E1A7}" type="presParOf" srcId="{9DC76063-82C4-A141-9EF3-BA5CBD721E94}" destId="{38240747-FDB2-EE47-859F-2122C7B654B0}" srcOrd="1" destOrd="0" presId="urn:microsoft.com/office/officeart/2005/8/layout/hierarchy1"/>
    <dgm:cxn modelId="{B11DE944-0858-9C41-BDBF-2217C36761ED}" type="presParOf" srcId="{0B94A19A-9E4E-2548-B4AE-EC87CF2EA900}" destId="{BB43B2CD-4B11-5044-BA2E-052E7E51509F}" srcOrd="2" destOrd="0" presId="urn:microsoft.com/office/officeart/2005/8/layout/hierarchy1"/>
    <dgm:cxn modelId="{E5D85236-B9C3-1A43-91DA-65F0B06E4BB6}" type="presParOf" srcId="{BB43B2CD-4B11-5044-BA2E-052E7E51509F}" destId="{7055B0A1-EB01-2D47-B21F-EDC21054B34D}" srcOrd="0" destOrd="0" presId="urn:microsoft.com/office/officeart/2005/8/layout/hierarchy1"/>
    <dgm:cxn modelId="{D484AACB-9268-DB4E-9FD6-48ADDBBAD4C5}" type="presParOf" srcId="{7055B0A1-EB01-2D47-B21F-EDC21054B34D}" destId="{F3A2D262-5FD3-434E-A1FB-C2643846E3A2}" srcOrd="0" destOrd="0" presId="urn:microsoft.com/office/officeart/2005/8/layout/hierarchy1"/>
    <dgm:cxn modelId="{4FC2D522-3D9B-0D4A-9E47-0FE7052ADAEC}" type="presParOf" srcId="{7055B0A1-EB01-2D47-B21F-EDC21054B34D}" destId="{00037675-E5D7-0B4C-BC7F-C48F29358BF6}" srcOrd="1" destOrd="0" presId="urn:microsoft.com/office/officeart/2005/8/layout/hierarchy1"/>
    <dgm:cxn modelId="{B51E9895-6D74-B648-A18F-05498BF8DDE9}" type="presParOf" srcId="{BB43B2CD-4B11-5044-BA2E-052E7E51509F}" destId="{51D2913C-04CB-A14D-9896-098DE416CA06}" srcOrd="1" destOrd="0" presId="urn:microsoft.com/office/officeart/2005/8/layout/hierarchy1"/>
    <dgm:cxn modelId="{9CD76214-B9DD-DF46-A271-000AE4BE704D}" type="presParOf" srcId="{0B94A19A-9E4E-2548-B4AE-EC87CF2EA900}" destId="{220E3021-ED7A-CF43-8E2E-00B916CA09E1}" srcOrd="3" destOrd="0" presId="urn:microsoft.com/office/officeart/2005/8/layout/hierarchy1"/>
    <dgm:cxn modelId="{535FC6F3-0719-5549-B647-1020C1E33F61}" type="presParOf" srcId="{220E3021-ED7A-CF43-8E2E-00B916CA09E1}" destId="{1ACC16BE-4B38-EF4B-A8DD-DE50BE42945E}" srcOrd="0" destOrd="0" presId="urn:microsoft.com/office/officeart/2005/8/layout/hierarchy1"/>
    <dgm:cxn modelId="{ECF191C6-3991-6B43-AF9F-4D9A4EFC25FB}" type="presParOf" srcId="{1ACC16BE-4B38-EF4B-A8DD-DE50BE42945E}" destId="{A4ED20F1-E176-E84E-954B-5A7A67A6D168}" srcOrd="0" destOrd="0" presId="urn:microsoft.com/office/officeart/2005/8/layout/hierarchy1"/>
    <dgm:cxn modelId="{86815EC5-BEEF-454A-9E34-4C838F803C14}" type="presParOf" srcId="{1ACC16BE-4B38-EF4B-A8DD-DE50BE42945E}" destId="{D6447324-17C8-2848-B7BC-1DD018C10053}" srcOrd="1" destOrd="0" presId="urn:microsoft.com/office/officeart/2005/8/layout/hierarchy1"/>
    <dgm:cxn modelId="{30F8001A-3AA9-084C-ADD7-BF257C0E16D2}" type="presParOf" srcId="{220E3021-ED7A-CF43-8E2E-00B916CA09E1}" destId="{88F1604F-54BC-774B-8314-330B498FF00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9A1876-96D3-0F48-9A6D-1AC599E88B2A}">
      <dsp:nvSpPr>
        <dsp:cNvPr id="0" name=""/>
        <dsp:cNvSpPr/>
      </dsp:nvSpPr>
      <dsp:spPr>
        <a:xfrm>
          <a:off x="150122" y="0"/>
          <a:ext cx="4470403" cy="4470403"/>
        </a:xfrm>
        <a:prstGeom prst="quadArrow">
          <a:avLst>
            <a:gd name="adj1" fmla="val 2000"/>
            <a:gd name="adj2" fmla="val 4000"/>
            <a:gd name="adj3" fmla="val 5000"/>
          </a:avLst>
        </a:prstGeom>
        <a:gradFill rotWithShape="0">
          <a:gsLst>
            <a:gs pos="0">
              <a:schemeClr val="accent3">
                <a:tint val="40000"/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tint val="40000"/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C94AC59E-E353-C14C-8CD5-D6E3760AEFEC}">
      <dsp:nvSpPr>
        <dsp:cNvPr id="0" name=""/>
        <dsp:cNvSpPr/>
      </dsp:nvSpPr>
      <dsp:spPr>
        <a:xfrm>
          <a:off x="440698" y="290576"/>
          <a:ext cx="1788161" cy="1788161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Publicly available dataset containing </a:t>
          </a:r>
          <a:r>
            <a:rPr lang="en-US" sz="1100" b="1" kern="1200" dirty="0"/>
            <a:t>real and manipulated facial videos</a:t>
          </a:r>
          <a:r>
            <a:rPr lang="en-US" sz="1100" kern="1200" dirty="0"/>
            <a:t>.</a:t>
          </a:r>
        </a:p>
      </dsp:txBody>
      <dsp:txXfrm>
        <a:off x="527989" y="377867"/>
        <a:ext cx="1613579" cy="1613579"/>
      </dsp:txXfrm>
    </dsp:sp>
    <dsp:sp modelId="{BF981764-DA1B-1C48-85B8-2EC2FE3B0323}">
      <dsp:nvSpPr>
        <dsp:cNvPr id="0" name=""/>
        <dsp:cNvSpPr/>
      </dsp:nvSpPr>
      <dsp:spPr>
        <a:xfrm>
          <a:off x="2541787" y="290576"/>
          <a:ext cx="1788161" cy="1788161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Total size:</a:t>
          </a:r>
          <a:r>
            <a:rPr lang="en-US" sz="1100" kern="1200" dirty="0"/>
            <a:t> ~</a:t>
          </a:r>
          <a:r>
            <a:rPr lang="en-US" sz="1100" b="1" kern="1200" dirty="0"/>
            <a:t>Total videos:</a:t>
          </a:r>
          <a:r>
            <a:rPr lang="en-US" sz="1100" kern="1200" dirty="0"/>
            <a:t> ≈ </a:t>
          </a:r>
          <a:r>
            <a:rPr lang="en-US" sz="1100" b="1" kern="1200" dirty="0"/>
            <a:t>5,000</a:t>
          </a:r>
          <a:r>
            <a:rPr lang="en-US" sz="1100" kern="1200" dirty="0"/>
            <a:t> (1,000 real + 4,000 fake)</a:t>
          </a:r>
          <a:br>
            <a:rPr lang="en-US" sz="1100" kern="1200" dirty="0"/>
          </a:br>
          <a:r>
            <a:rPr lang="en-US" sz="1100" b="1" kern="1200" dirty="0"/>
            <a:t>Extracted frames:</a:t>
          </a:r>
          <a:r>
            <a:rPr lang="en-US" sz="1100" kern="1200" dirty="0"/>
            <a:t> ≈ </a:t>
          </a:r>
          <a:r>
            <a:rPr lang="en-US" sz="1100" b="1" kern="1200" dirty="0"/>
            <a:t>100,000</a:t>
          </a:r>
          <a:r>
            <a:rPr lang="en-US" sz="1100" kern="1200" dirty="0"/>
            <a:t> (20 per video)</a:t>
          </a:r>
          <a:br>
            <a:rPr lang="en-US" sz="1100" kern="1200" dirty="0"/>
          </a:br>
          <a:r>
            <a:rPr lang="en-US" sz="1100" b="1" kern="1200" dirty="0"/>
            <a:t>Used subset:</a:t>
          </a:r>
          <a:r>
            <a:rPr lang="en-US" sz="1100" kern="1200" dirty="0"/>
            <a:t> ≈ </a:t>
          </a:r>
          <a:r>
            <a:rPr lang="en-US" sz="1100" b="1" kern="1200" dirty="0"/>
            <a:t>8,000–10,000 balanced face images</a:t>
          </a:r>
          <a:endParaRPr lang="en-US" sz="1100" kern="1200" dirty="0"/>
        </a:p>
      </dsp:txBody>
      <dsp:txXfrm>
        <a:off x="2629078" y="377867"/>
        <a:ext cx="1613579" cy="1613579"/>
      </dsp:txXfrm>
    </dsp:sp>
    <dsp:sp modelId="{BE709808-1393-1046-AEA0-96BDAE1A79BB}">
      <dsp:nvSpPr>
        <dsp:cNvPr id="0" name=""/>
        <dsp:cNvSpPr/>
      </dsp:nvSpPr>
      <dsp:spPr>
        <a:xfrm>
          <a:off x="440698" y="2391665"/>
          <a:ext cx="1788161" cy="1788161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Split:</a:t>
          </a:r>
          <a:r>
            <a:rPr lang="en-US" sz="1100" kern="1200"/>
            <a:t> 70% training, 20% validation, 10% testing</a:t>
          </a:r>
        </a:p>
      </dsp:txBody>
      <dsp:txXfrm>
        <a:off x="527989" y="2478956"/>
        <a:ext cx="1613579" cy="1613579"/>
      </dsp:txXfrm>
    </dsp:sp>
    <dsp:sp modelId="{BB29CC78-5368-FD4B-B5F6-98D93E4CDEA2}">
      <dsp:nvSpPr>
        <dsp:cNvPr id="0" name=""/>
        <dsp:cNvSpPr/>
      </dsp:nvSpPr>
      <dsp:spPr>
        <a:xfrm>
          <a:off x="2541787" y="2391665"/>
          <a:ext cx="1788161" cy="1788161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Preprocessing:</a:t>
          </a:r>
          <a:r>
            <a:rPr lang="en-US" sz="1100" kern="1200"/>
            <a:t> Face detection via </a:t>
          </a:r>
          <a:r>
            <a:rPr lang="en-US" sz="1100" b="1" kern="1200"/>
            <a:t>dlib</a:t>
          </a:r>
          <a:r>
            <a:rPr lang="en-US" sz="1100" kern="1200"/>
            <a:t>, resizing (299×299 / 224×224), normalization</a:t>
          </a:r>
        </a:p>
      </dsp:txBody>
      <dsp:txXfrm>
        <a:off x="2629078" y="2478956"/>
        <a:ext cx="1613579" cy="16135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5A1E22-66CC-0D47-9D53-EE27696402D8}">
      <dsp:nvSpPr>
        <dsp:cNvPr id="0" name=""/>
        <dsp:cNvSpPr/>
      </dsp:nvSpPr>
      <dsp:spPr>
        <a:xfrm>
          <a:off x="0" y="411912"/>
          <a:ext cx="2887252" cy="18334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750FCE8-D485-A543-9CDF-722E55AE0E0D}">
      <dsp:nvSpPr>
        <dsp:cNvPr id="0" name=""/>
        <dsp:cNvSpPr/>
      </dsp:nvSpPr>
      <dsp:spPr>
        <a:xfrm>
          <a:off x="320805" y="716678"/>
          <a:ext cx="2887252" cy="18334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XceptionNet:</a:t>
          </a:r>
          <a:r>
            <a:rPr lang="en-US" sz="1800" kern="1200"/>
            <a:t> CNN with depthwise separable convolutions (pretrained on ImageNet).</a:t>
          </a:r>
        </a:p>
      </dsp:txBody>
      <dsp:txXfrm>
        <a:off x="374504" y="770377"/>
        <a:ext cx="2779854" cy="1726007"/>
      </dsp:txXfrm>
    </dsp:sp>
    <dsp:sp modelId="{65351FE7-50E9-214C-BA54-926087087A7C}">
      <dsp:nvSpPr>
        <dsp:cNvPr id="0" name=""/>
        <dsp:cNvSpPr/>
      </dsp:nvSpPr>
      <dsp:spPr>
        <a:xfrm>
          <a:off x="3528863" y="411912"/>
          <a:ext cx="2887252" cy="18334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5D8830F-58EE-DE4C-A3C6-6C9258CC7EB3}">
      <dsp:nvSpPr>
        <dsp:cNvPr id="0" name=""/>
        <dsp:cNvSpPr/>
      </dsp:nvSpPr>
      <dsp:spPr>
        <a:xfrm>
          <a:off x="3849669" y="716678"/>
          <a:ext cx="2887252" cy="18334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Vision Transformer (ViT):</a:t>
          </a:r>
          <a:r>
            <a:rPr lang="en-US" sz="1800" kern="1200"/>
            <a:t> Divides image into patches and learns relationships via self-attention.</a:t>
          </a:r>
        </a:p>
      </dsp:txBody>
      <dsp:txXfrm>
        <a:off x="3903368" y="770377"/>
        <a:ext cx="2779854" cy="1726007"/>
      </dsp:txXfrm>
    </dsp:sp>
    <dsp:sp modelId="{304B9CB2-9446-C44B-BD27-B046033BFF30}">
      <dsp:nvSpPr>
        <dsp:cNvPr id="0" name=""/>
        <dsp:cNvSpPr/>
      </dsp:nvSpPr>
      <dsp:spPr>
        <a:xfrm>
          <a:off x="7057727" y="411912"/>
          <a:ext cx="2887252" cy="18334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616E698-95DC-7E45-9CB1-C194F2B08E26}">
      <dsp:nvSpPr>
        <dsp:cNvPr id="0" name=""/>
        <dsp:cNvSpPr/>
      </dsp:nvSpPr>
      <dsp:spPr>
        <a:xfrm>
          <a:off x="7378533" y="716678"/>
          <a:ext cx="2887252" cy="18334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Trained using </a:t>
          </a:r>
          <a:r>
            <a:rPr lang="en-US" sz="1800" b="1" kern="1200"/>
            <a:t>Adam optimizer</a:t>
          </a:r>
          <a:r>
            <a:rPr lang="en-US" sz="1800" kern="1200"/>
            <a:t>, learning rate = 1e-4, </a:t>
          </a:r>
          <a:r>
            <a:rPr lang="en-US" sz="1800" b="1" kern="1200"/>
            <a:t>BCEWithLogitsLoss</a:t>
          </a:r>
          <a:r>
            <a:rPr lang="en-US" sz="1800" kern="1200"/>
            <a:t>, 20 epochs, mixed precision.</a:t>
          </a:r>
        </a:p>
      </dsp:txBody>
      <dsp:txXfrm>
        <a:off x="7432232" y="770377"/>
        <a:ext cx="2779854" cy="17260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209C1C-B944-E241-B20C-7EF11F58EBE9}">
      <dsp:nvSpPr>
        <dsp:cNvPr id="0" name=""/>
        <dsp:cNvSpPr/>
      </dsp:nvSpPr>
      <dsp:spPr>
        <a:xfrm>
          <a:off x="3007" y="685865"/>
          <a:ext cx="2147393" cy="136359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C084BFC-281A-DE4C-A5D7-6A072811B227}">
      <dsp:nvSpPr>
        <dsp:cNvPr id="0" name=""/>
        <dsp:cNvSpPr/>
      </dsp:nvSpPr>
      <dsp:spPr>
        <a:xfrm>
          <a:off x="241606" y="912535"/>
          <a:ext cx="2147393" cy="13635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GAN-based Adversarial Training</a:t>
          </a:r>
          <a:r>
            <a:rPr lang="en-US" sz="1500" kern="1200"/>
            <a:t> – generate challenging fakes (StyleGAN, Diffusion)</a:t>
          </a:r>
        </a:p>
      </dsp:txBody>
      <dsp:txXfrm>
        <a:off x="281544" y="952473"/>
        <a:ext cx="2067517" cy="1283719"/>
      </dsp:txXfrm>
    </dsp:sp>
    <dsp:sp modelId="{AAB4E074-32A4-B747-B2CE-FEA5982FAC21}">
      <dsp:nvSpPr>
        <dsp:cNvPr id="0" name=""/>
        <dsp:cNvSpPr/>
      </dsp:nvSpPr>
      <dsp:spPr>
        <a:xfrm>
          <a:off x="2627600" y="685865"/>
          <a:ext cx="2147393" cy="136359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2D2E170-D693-DC46-B6E4-1410927993EC}">
      <dsp:nvSpPr>
        <dsp:cNvPr id="0" name=""/>
        <dsp:cNvSpPr/>
      </dsp:nvSpPr>
      <dsp:spPr>
        <a:xfrm>
          <a:off x="2866199" y="912535"/>
          <a:ext cx="2147393" cy="13635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GAN Discriminator Reuse</a:t>
          </a:r>
          <a:r>
            <a:rPr lang="en-US" sz="1500" kern="1200"/>
            <a:t> – use pretrained discriminators for detection</a:t>
          </a:r>
        </a:p>
      </dsp:txBody>
      <dsp:txXfrm>
        <a:off x="2906137" y="952473"/>
        <a:ext cx="2067517" cy="1283719"/>
      </dsp:txXfrm>
    </dsp:sp>
    <dsp:sp modelId="{F3A2D262-5FD3-434E-A1FB-C2643846E3A2}">
      <dsp:nvSpPr>
        <dsp:cNvPr id="0" name=""/>
        <dsp:cNvSpPr/>
      </dsp:nvSpPr>
      <dsp:spPr>
        <a:xfrm>
          <a:off x="5252192" y="685865"/>
          <a:ext cx="2147393" cy="136359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0037675-E5D7-0B4C-BC7F-C48F29358BF6}">
      <dsp:nvSpPr>
        <dsp:cNvPr id="0" name=""/>
        <dsp:cNvSpPr/>
      </dsp:nvSpPr>
      <dsp:spPr>
        <a:xfrm>
          <a:off x="5490791" y="912535"/>
          <a:ext cx="2147393" cy="13635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Multimodal Fusion</a:t>
          </a:r>
          <a:r>
            <a:rPr lang="en-US" sz="1500" kern="1200"/>
            <a:t> – integrate audio, text, visual cues</a:t>
          </a:r>
        </a:p>
      </dsp:txBody>
      <dsp:txXfrm>
        <a:off x="5530729" y="952473"/>
        <a:ext cx="2067517" cy="1283719"/>
      </dsp:txXfrm>
    </dsp:sp>
    <dsp:sp modelId="{A4ED20F1-E176-E84E-954B-5A7A67A6D168}">
      <dsp:nvSpPr>
        <dsp:cNvPr id="0" name=""/>
        <dsp:cNvSpPr/>
      </dsp:nvSpPr>
      <dsp:spPr>
        <a:xfrm>
          <a:off x="7876785" y="685865"/>
          <a:ext cx="2147393" cy="136359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6447324-17C8-2848-B7BC-1DD018C10053}">
      <dsp:nvSpPr>
        <dsp:cNvPr id="0" name=""/>
        <dsp:cNvSpPr/>
      </dsp:nvSpPr>
      <dsp:spPr>
        <a:xfrm>
          <a:off x="8115384" y="912535"/>
          <a:ext cx="2147393" cy="13635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Graph Neural Networks (GNNs)</a:t>
          </a:r>
          <a:r>
            <a:rPr lang="en-US" sz="1500" kern="1200"/>
            <a:t> – model deepfake propagation on social platforms</a:t>
          </a:r>
        </a:p>
      </dsp:txBody>
      <dsp:txXfrm>
        <a:off x="8155322" y="952473"/>
        <a:ext cx="2067517" cy="12837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A4947-A450-7945-BAE6-BA2FE5F14165}" type="datetimeFigureOut">
              <a:rPr lang="en-AE" smtClean="0"/>
              <a:t>09/11/2025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ED81712-E5C6-524C-9FD3-8A26E08B109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87777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A4947-A450-7945-BAE6-BA2FE5F14165}" type="datetimeFigureOut">
              <a:rPr lang="en-AE" smtClean="0"/>
              <a:t>09/11/2025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81712-E5C6-524C-9FD3-8A26E08B109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93747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A4947-A450-7945-BAE6-BA2FE5F14165}" type="datetimeFigureOut">
              <a:rPr lang="en-AE" smtClean="0"/>
              <a:t>09/11/2025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ED81712-E5C6-524C-9FD3-8A26E08B109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21915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A4947-A450-7945-BAE6-BA2FE5F14165}" type="datetimeFigureOut">
              <a:rPr lang="en-AE" smtClean="0"/>
              <a:t>09/11/2025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ED81712-E5C6-524C-9FD3-8A26E08B109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33780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A4947-A450-7945-BAE6-BA2FE5F14165}" type="datetimeFigureOut">
              <a:rPr lang="en-AE" smtClean="0"/>
              <a:t>09/11/2025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ED81712-E5C6-524C-9FD3-8A26E08B109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15154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A4947-A450-7945-BAE6-BA2FE5F14165}" type="datetimeFigureOut">
              <a:rPr lang="en-AE" smtClean="0"/>
              <a:t>09/11/2025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81712-E5C6-524C-9FD3-8A26E08B109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75486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A4947-A450-7945-BAE6-BA2FE5F14165}" type="datetimeFigureOut">
              <a:rPr lang="en-AE" smtClean="0"/>
              <a:t>09/11/2025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81712-E5C6-524C-9FD3-8A26E08B109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723778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A4947-A450-7945-BAE6-BA2FE5F14165}" type="datetimeFigureOut">
              <a:rPr lang="en-AE" smtClean="0"/>
              <a:t>09/11/2025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81712-E5C6-524C-9FD3-8A26E08B109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21890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A4947-A450-7945-BAE6-BA2FE5F14165}" type="datetimeFigureOut">
              <a:rPr lang="en-AE" smtClean="0"/>
              <a:t>09/11/2025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ED81712-E5C6-524C-9FD3-8A26E08B109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54072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A4947-A450-7945-BAE6-BA2FE5F14165}" type="datetimeFigureOut">
              <a:rPr lang="en-AE" smtClean="0"/>
              <a:t>09/11/2025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ED81712-E5C6-524C-9FD3-8A26E08B109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05605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A4947-A450-7945-BAE6-BA2FE5F14165}" type="datetimeFigureOut">
              <a:rPr lang="en-AE" smtClean="0"/>
              <a:t>09/11/2025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ED81712-E5C6-524C-9FD3-8A26E08B1096}" type="slidenum">
              <a:rPr lang="en-AE" smtClean="0"/>
              <a:t>‹#›</a:t>
            </a:fld>
            <a:endParaRPr lang="en-AE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701400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A4947-A450-7945-BAE6-BA2FE5F14165}" type="datetimeFigureOut">
              <a:rPr lang="en-AE" smtClean="0"/>
              <a:t>09/11/2025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ED81712-E5C6-524C-9FD3-8A26E08B109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2318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A4947-A450-7945-BAE6-BA2FE5F14165}" type="datetimeFigureOut">
              <a:rPr lang="en-AE" smtClean="0"/>
              <a:t>09/11/2025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ED81712-E5C6-524C-9FD3-8A26E08B1096}" type="slidenum">
              <a:rPr lang="en-AE" smtClean="0"/>
              <a:t>‹#›</a:t>
            </a:fld>
            <a:endParaRPr lang="en-AE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822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A4947-A450-7945-BAE6-BA2FE5F14165}" type="datetimeFigureOut">
              <a:rPr lang="en-AE" smtClean="0"/>
              <a:t>09/11/2025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ED81712-E5C6-524C-9FD3-8A26E08B109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2368903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A4947-A450-7945-BAE6-BA2FE5F14165}" type="datetimeFigureOut">
              <a:rPr lang="en-AE" smtClean="0"/>
              <a:t>09/11/2025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81712-E5C6-524C-9FD3-8A26E08B109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085938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A4947-A450-7945-BAE6-BA2FE5F14165}" type="datetimeFigureOut">
              <a:rPr lang="en-AE" smtClean="0"/>
              <a:t>09/11/2025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81712-E5C6-524C-9FD3-8A26E08B109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10809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A4947-A450-7945-BAE6-BA2FE5F14165}" type="datetimeFigureOut">
              <a:rPr lang="en-AE" smtClean="0"/>
              <a:t>09/11/2025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ED81712-E5C6-524C-9FD3-8A26E08B109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629875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image" Target="../media/image4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A3EED-D3B5-3FA0-125C-60EB8EF3A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5446" y="644237"/>
            <a:ext cx="9767454" cy="4330570"/>
          </a:xfrm>
        </p:spPr>
        <p:txBody>
          <a:bodyPr>
            <a:normAutofit/>
          </a:bodyPr>
          <a:lstStyle/>
          <a:p>
            <a:r>
              <a:rPr lang="en-US" b="1" dirty="0">
                <a:effectLst/>
                <a:latin typeface="Arial" panose="020B0604020202020204" pitchFamily="34" charset="0"/>
              </a:rPr>
              <a:t>Deepfake Detection in Online Social Network (OSN) </a:t>
            </a:r>
            <a:br>
              <a:rPr lang="en-US" dirty="0"/>
            </a:br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B66792-97FD-CFE0-152C-DCA90F2017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5446" y="4185097"/>
            <a:ext cx="8915399" cy="1126283"/>
          </a:xfrm>
        </p:spPr>
        <p:txBody>
          <a:bodyPr>
            <a:normAutofit/>
          </a:bodyPr>
          <a:lstStyle/>
          <a:p>
            <a:r>
              <a:rPr lang="en-AE" dirty="0"/>
              <a:t>Name : Tarunikka Suresh                                                                                  </a:t>
            </a:r>
          </a:p>
          <a:p>
            <a:r>
              <a:rPr lang="en-US" sz="1800" dirty="0">
                <a:effectLst/>
              </a:rPr>
              <a:t> ID : </a:t>
            </a:r>
            <a:r>
              <a:rPr lang="en-AE" dirty="0"/>
              <a:t>2022A7PS0199U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458223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B5A2D-BE38-8649-00CF-8E7E7BA0A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226" y="696847"/>
            <a:ext cx="9478385" cy="1984008"/>
          </a:xfrm>
        </p:spPr>
        <p:txBody>
          <a:bodyPr/>
          <a:lstStyle/>
          <a:p>
            <a:r>
              <a:rPr lang="en-AE" b="1" dirty="0"/>
              <a:t>PROBLEM STATEMENT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02877-55C1-3C7A-F8F8-A0ECC384E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0590" y="1042554"/>
            <a:ext cx="10338956" cy="5555674"/>
          </a:xfrm>
        </p:spPr>
        <p:txBody>
          <a:bodyPr>
            <a:normAutofit/>
          </a:bodyPr>
          <a:lstStyle/>
          <a:p>
            <a:pPr algn="just"/>
            <a:endParaRPr lang="en-US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/>
              <a:t>Deepfakes threaten digital trust, enabling misinformation, identity theft, and fraud.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/>
              <a:t>Most detection models focus on </a:t>
            </a:r>
            <a:r>
              <a:rPr lang="en-US" sz="2000" b="1" dirty="0"/>
              <a:t>content-level artifacts</a:t>
            </a:r>
            <a:r>
              <a:rPr lang="en-US" sz="2000" dirty="0"/>
              <a:t> (pixels, textures, faces) but fail when videos are compressed or re-encoded.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/>
              <a:t>Goal:</a:t>
            </a:r>
            <a:r>
              <a:rPr lang="en-US" sz="2000" dirty="0"/>
              <a:t> Build a robust deepfake detection pipeline using two architectures — </a:t>
            </a:r>
            <a:r>
              <a:rPr lang="en-US" sz="2000" b="1" dirty="0"/>
              <a:t>Vision Transformer (</a:t>
            </a:r>
            <a:r>
              <a:rPr lang="en-US" sz="2000" b="1" dirty="0" err="1"/>
              <a:t>ViT</a:t>
            </a:r>
            <a:r>
              <a:rPr lang="en-US" sz="2000" b="1" dirty="0"/>
              <a:t>)</a:t>
            </a:r>
            <a:r>
              <a:rPr lang="en-US" sz="2000" dirty="0"/>
              <a:t> and </a:t>
            </a:r>
            <a:r>
              <a:rPr lang="en-US" sz="2000" b="1" dirty="0" err="1"/>
              <a:t>XceptionNet</a:t>
            </a:r>
            <a:r>
              <a:rPr lang="en-US" sz="2000" dirty="0"/>
              <a:t> — and compare their accuracy, AUC, and interpretability (Grad-CAM).</a:t>
            </a:r>
          </a:p>
          <a:p>
            <a:endParaRPr lang="en-AE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71052F-299F-9467-7F60-294845F2FFA0}"/>
              </a:ext>
            </a:extLst>
          </p:cNvPr>
          <p:cNvSpPr/>
          <p:nvPr/>
        </p:nvSpPr>
        <p:spPr>
          <a:xfrm>
            <a:off x="1130877" y="4717466"/>
            <a:ext cx="1640032" cy="758536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E" sz="1600" dirty="0"/>
              <a:t>INPUT VIDEO OR IMAGE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4239AC-124B-AB07-A46E-A1050F414AA5}"/>
              </a:ext>
            </a:extLst>
          </p:cNvPr>
          <p:cNvSpPr/>
          <p:nvPr/>
        </p:nvSpPr>
        <p:spPr>
          <a:xfrm>
            <a:off x="3200402" y="4717466"/>
            <a:ext cx="1640033" cy="758536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Frame Extraction</a:t>
            </a:r>
            <a:endParaRPr lang="en-AE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014650-F2A4-250F-9AD5-7FA896DB373C}"/>
              </a:ext>
            </a:extLst>
          </p:cNvPr>
          <p:cNvSpPr/>
          <p:nvPr/>
        </p:nvSpPr>
        <p:spPr>
          <a:xfrm>
            <a:off x="5320148" y="4717465"/>
            <a:ext cx="1792432" cy="75853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Model (</a:t>
            </a:r>
            <a:r>
              <a:rPr lang="en-US" sz="1600" dirty="0" err="1"/>
              <a:t>ViT</a:t>
            </a:r>
            <a:r>
              <a:rPr lang="en-US" sz="1600" dirty="0"/>
              <a:t>/</a:t>
            </a:r>
            <a:r>
              <a:rPr lang="en-US" sz="1600" dirty="0" err="1"/>
              <a:t>Xception</a:t>
            </a:r>
            <a:r>
              <a:rPr lang="en-US" sz="1600" dirty="0"/>
              <a:t>) </a:t>
            </a:r>
            <a:endParaRPr lang="en-AE" sz="1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97EDA8-362A-C749-BD48-619E2AEBDAB2}"/>
              </a:ext>
            </a:extLst>
          </p:cNvPr>
          <p:cNvSpPr/>
          <p:nvPr/>
        </p:nvSpPr>
        <p:spPr>
          <a:xfrm>
            <a:off x="7438166" y="4717466"/>
            <a:ext cx="1792433" cy="75853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E" dirty="0"/>
              <a:t>Prediction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DE40B1-2A24-0273-5A8E-1329A40303EA}"/>
              </a:ext>
            </a:extLst>
          </p:cNvPr>
          <p:cNvSpPr/>
          <p:nvPr/>
        </p:nvSpPr>
        <p:spPr>
          <a:xfrm>
            <a:off x="9669172" y="4693220"/>
            <a:ext cx="1841801" cy="80702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Grad-CAM Explanation</a:t>
            </a:r>
            <a:endParaRPr lang="en-AE" sz="16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C8892D0-3150-1EF3-3139-85DFE5E4C3E3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770909" y="5096734"/>
            <a:ext cx="4294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236E490-5C32-0102-E8D1-E699A2D9FDF0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4840435" y="5096734"/>
            <a:ext cx="4797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D5B07B0-58A2-25DC-0511-F69F40F1A9EF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7112580" y="5096734"/>
            <a:ext cx="32558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E5212C6-872F-EA39-6540-9C593A743D03}"/>
              </a:ext>
            </a:extLst>
          </p:cNvPr>
          <p:cNvCxnSpPr>
            <a:stCxn id="7" idx="3"/>
            <a:endCxn id="8" idx="1"/>
          </p:cNvCxnSpPr>
          <p:nvPr/>
        </p:nvCxnSpPr>
        <p:spPr>
          <a:xfrm flipV="1">
            <a:off x="9230599" y="5096734"/>
            <a:ext cx="43857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2693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473C1-C7D0-F9D9-F73A-D15B8B496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669" y="624110"/>
            <a:ext cx="4137059" cy="128089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AE" sz="2700" b="1" dirty="0"/>
              <a:t>DATASET DESCRIPTION</a:t>
            </a:r>
            <a:br>
              <a:rPr lang="en-AE" sz="2700" b="1" dirty="0"/>
            </a:br>
            <a:r>
              <a:rPr lang="en-AE" sz="2700" b="1" dirty="0"/>
              <a:t>(</a:t>
            </a:r>
            <a:r>
              <a:rPr lang="en-US" sz="2700" b="1" dirty="0" err="1"/>
              <a:t>FaceForensics</a:t>
            </a:r>
            <a:r>
              <a:rPr lang="en-US" sz="2700" b="1" dirty="0"/>
              <a:t>++)</a:t>
            </a:r>
            <a:endParaRPr lang="en-AE" sz="2700" b="1" dirty="0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C88EB485-661C-59BC-9BC2-BD8E8F3BB8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8197765"/>
              </p:ext>
            </p:extLst>
          </p:nvPr>
        </p:nvGraphicFramePr>
        <p:xfrm>
          <a:off x="861226" y="1763486"/>
          <a:ext cx="4770647" cy="44704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4C1EE7-8532-B482-C991-5659DDC86D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74123"/>
              </p:ext>
            </p:extLst>
          </p:nvPr>
        </p:nvGraphicFramePr>
        <p:xfrm>
          <a:off x="6091916" y="1637692"/>
          <a:ext cx="5857628" cy="3262578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098173">
                  <a:extLst>
                    <a:ext uri="{9D8B030D-6E8A-4147-A177-3AD203B41FA5}">
                      <a16:colId xmlns:a16="http://schemas.microsoft.com/office/drawing/2014/main" val="731350610"/>
                    </a:ext>
                  </a:extLst>
                </a:gridCol>
                <a:gridCol w="862073">
                  <a:extLst>
                    <a:ext uri="{9D8B030D-6E8A-4147-A177-3AD203B41FA5}">
                      <a16:colId xmlns:a16="http://schemas.microsoft.com/office/drawing/2014/main" val="4283085188"/>
                    </a:ext>
                  </a:extLst>
                </a:gridCol>
                <a:gridCol w="732147">
                  <a:extLst>
                    <a:ext uri="{9D8B030D-6E8A-4147-A177-3AD203B41FA5}">
                      <a16:colId xmlns:a16="http://schemas.microsoft.com/office/drawing/2014/main" val="2474164262"/>
                    </a:ext>
                  </a:extLst>
                </a:gridCol>
                <a:gridCol w="1165235">
                  <a:extLst>
                    <a:ext uri="{9D8B030D-6E8A-4147-A177-3AD203B41FA5}">
                      <a16:colId xmlns:a16="http://schemas.microsoft.com/office/drawing/2014/main" val="1312305177"/>
                    </a:ext>
                  </a:extLst>
                </a:gridCol>
              </a:tblGrid>
              <a:tr h="45211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u="none" strike="noStrike">
                          <a:effectLst/>
                        </a:rPr>
                        <a:t>Category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097" marR="61097" marT="30548" marB="30548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u="none" strike="noStrike">
                          <a:effectLst/>
                        </a:rPr>
                        <a:t>Type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097" marR="61097" marT="30548" marB="30548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u="none" strike="noStrike">
                          <a:effectLst/>
                        </a:rPr>
                        <a:t>No. of Videos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097" marR="61097" marT="30548" marB="30548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u="none" strike="noStrike">
                          <a:effectLst/>
                        </a:rPr>
                        <a:t>Description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097" marR="61097" marT="30548" marB="30548" anchor="ctr"/>
                </a:tc>
                <a:extLst>
                  <a:ext uri="{0D108BD9-81ED-4DB2-BD59-A6C34878D82A}">
                    <a16:rowId xmlns:a16="http://schemas.microsoft.com/office/drawing/2014/main" val="2682444767"/>
                  </a:ext>
                </a:extLst>
              </a:tr>
              <a:tr h="6354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u="none" strike="noStrike" dirty="0" err="1">
                          <a:effectLst/>
                        </a:rPr>
                        <a:t>original_sequences</a:t>
                      </a:r>
                      <a:r>
                        <a:rPr lang="en-US" sz="1200" b="0" u="none" strike="noStrike" dirty="0">
                          <a:effectLst/>
                        </a:rPr>
                        <a:t>/</a:t>
                      </a:r>
                      <a:r>
                        <a:rPr lang="en-US" sz="1200" b="0" u="none" strike="noStrike" dirty="0" err="1">
                          <a:effectLst/>
                        </a:rPr>
                        <a:t>youtube</a:t>
                      </a:r>
                      <a:r>
                        <a:rPr lang="en-US" sz="1200" b="0" u="none" strike="noStrike" dirty="0">
                          <a:effectLst/>
                        </a:rPr>
                        <a:t>/c23/videos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097" marR="61097" marT="30548" marB="30548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AE" sz="1200" b="0" u="none" strike="noStrike" dirty="0">
                          <a:effectLst/>
                        </a:rPr>
                        <a:t> </a:t>
                      </a:r>
                      <a:r>
                        <a:rPr lang="en-US" sz="1200" b="0" u="none" strike="noStrike" dirty="0">
                          <a:effectLst/>
                        </a:rPr>
                        <a:t>Real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097" marR="61097" marT="30548" marB="30548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AE" sz="1200" b="0" u="none" strike="noStrike">
                          <a:effectLst/>
                        </a:rPr>
                        <a:t>~1,000</a:t>
                      </a:r>
                      <a:endParaRPr lang="en-AE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097" marR="61097" marT="30548" marB="30548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u="none" strike="noStrike">
                          <a:effectLst/>
                        </a:rPr>
                        <a:t>Genuine unaltered source videos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097" marR="61097" marT="30548" marB="30548" anchor="ctr"/>
                </a:tc>
                <a:extLst>
                  <a:ext uri="{0D108BD9-81ED-4DB2-BD59-A6C34878D82A}">
                    <a16:rowId xmlns:a16="http://schemas.microsoft.com/office/drawing/2014/main" val="3269093314"/>
                  </a:ext>
                </a:extLst>
              </a:tr>
              <a:tr h="6354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u="none" strike="noStrike">
                          <a:effectLst/>
                        </a:rPr>
                        <a:t>Deepfakes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097" marR="61097" marT="30548" marB="30548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u="none" strike="noStrike" dirty="0">
                          <a:effectLst/>
                        </a:rPr>
                        <a:t>Fake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097" marR="61097" marT="30548" marB="30548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AE" sz="1200" b="0" u="none" strike="noStrike">
                          <a:effectLst/>
                        </a:rPr>
                        <a:t>~1,000</a:t>
                      </a:r>
                      <a:endParaRPr lang="en-AE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097" marR="61097" marT="30548" marB="30548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u="none" strike="noStrike">
                          <a:effectLst/>
                        </a:rPr>
                        <a:t>Autoencoder-based face swaps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097" marR="61097" marT="30548" marB="30548" anchor="ctr"/>
                </a:tc>
                <a:extLst>
                  <a:ext uri="{0D108BD9-81ED-4DB2-BD59-A6C34878D82A}">
                    <a16:rowId xmlns:a16="http://schemas.microsoft.com/office/drawing/2014/main" val="3317159916"/>
                  </a:ext>
                </a:extLst>
              </a:tr>
              <a:tr h="45211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u="none" strike="noStrike" dirty="0">
                          <a:effectLst/>
                        </a:rPr>
                        <a:t>Face2Face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097" marR="61097" marT="30548" marB="30548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u="none" strike="noStrike" dirty="0">
                          <a:effectLst/>
                        </a:rPr>
                        <a:t>Fake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097" marR="61097" marT="30548" marB="30548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AE" sz="1200" b="0" u="none" strike="noStrike">
                          <a:effectLst/>
                        </a:rPr>
                        <a:t>~1,000</a:t>
                      </a:r>
                      <a:endParaRPr lang="en-AE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097" marR="61097" marT="30548" marB="30548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u="none" strike="noStrike">
                          <a:effectLst/>
                        </a:rPr>
                        <a:t>Expression reenactment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097" marR="61097" marT="30548" marB="30548" anchor="ctr"/>
                </a:tc>
                <a:extLst>
                  <a:ext uri="{0D108BD9-81ED-4DB2-BD59-A6C34878D82A}">
                    <a16:rowId xmlns:a16="http://schemas.microsoft.com/office/drawing/2014/main" val="1923831541"/>
                  </a:ext>
                </a:extLst>
              </a:tr>
              <a:tr h="45211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u="none" strike="noStrike" dirty="0" err="1">
                          <a:effectLst/>
                        </a:rPr>
                        <a:t>FaceSwap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097" marR="61097" marT="30548" marB="30548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u="none" strike="noStrike" dirty="0">
                          <a:effectLst/>
                        </a:rPr>
                        <a:t>Fake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097" marR="61097" marT="30548" marB="30548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AE" sz="1200" b="0" u="none" strike="noStrike">
                          <a:effectLst/>
                        </a:rPr>
                        <a:t>~1,000</a:t>
                      </a:r>
                      <a:endParaRPr lang="en-AE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097" marR="61097" marT="30548" marB="30548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u="none" strike="noStrike">
                          <a:effectLst/>
                        </a:rPr>
                        <a:t>Identity replacement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097" marR="61097" marT="30548" marB="30548" anchor="ctr"/>
                </a:tc>
                <a:extLst>
                  <a:ext uri="{0D108BD9-81ED-4DB2-BD59-A6C34878D82A}">
                    <a16:rowId xmlns:a16="http://schemas.microsoft.com/office/drawing/2014/main" val="1424382843"/>
                  </a:ext>
                </a:extLst>
              </a:tr>
              <a:tr h="6354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u="none" strike="noStrike">
                          <a:effectLst/>
                        </a:rPr>
                        <a:t>NeuralTextures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097" marR="61097" marT="30548" marB="30548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AE" sz="1200" b="0" u="none" strike="noStrike" dirty="0">
                          <a:effectLst/>
                        </a:rPr>
                        <a:t> </a:t>
                      </a:r>
                      <a:r>
                        <a:rPr lang="en-US" sz="1200" b="0" u="none" strike="noStrike" dirty="0">
                          <a:effectLst/>
                        </a:rPr>
                        <a:t>Fake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097" marR="61097" marT="30548" marB="30548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AE" sz="1200" b="0" u="none" strike="noStrike">
                          <a:effectLst/>
                        </a:rPr>
                        <a:t>~1,000</a:t>
                      </a:r>
                      <a:endParaRPr lang="en-AE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097" marR="61097" marT="30548" marB="30548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u="none" strike="noStrike" dirty="0">
                          <a:effectLst/>
                        </a:rPr>
                        <a:t>Rendered synthetic textures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097" marR="61097" marT="30548" marB="30548" anchor="ctr"/>
                </a:tc>
                <a:extLst>
                  <a:ext uri="{0D108BD9-81ED-4DB2-BD59-A6C34878D82A}">
                    <a16:rowId xmlns:a16="http://schemas.microsoft.com/office/drawing/2014/main" val="864032667"/>
                  </a:ext>
                </a:extLst>
              </a:tr>
            </a:tbl>
          </a:graphicData>
        </a:graphic>
      </p:graphicFrame>
      <p:pic>
        <p:nvPicPr>
          <p:cNvPr id="5" name="Picture 4" descr="A person in a suit&#10;&#10;Description automatically generated">
            <a:extLst>
              <a:ext uri="{FF2B5EF4-FFF2-40B4-BE49-F238E27FC236}">
                <a16:creationId xmlns:a16="http://schemas.microsoft.com/office/drawing/2014/main" id="{DAB58302-B05C-FB64-A0BC-F71F46BCD7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0125" y="5107630"/>
            <a:ext cx="1020008" cy="1126259"/>
          </a:xfrm>
          <a:prstGeom prst="rect">
            <a:avLst/>
          </a:prstGeom>
        </p:spPr>
      </p:pic>
      <p:pic>
        <p:nvPicPr>
          <p:cNvPr id="6" name="Picture 5" descr="A person with a blurry face&#10;&#10;Description automatically generated">
            <a:extLst>
              <a:ext uri="{FF2B5EF4-FFF2-40B4-BE49-F238E27FC236}">
                <a16:creationId xmlns:a16="http://schemas.microsoft.com/office/drawing/2014/main" id="{76E0F00D-9C3E-E001-59B5-ADFA76E5AD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78832" y="5107630"/>
            <a:ext cx="1104900" cy="1143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05139E-AFDD-7273-5CD6-D298DAFCDC6B}"/>
              </a:ext>
            </a:extLst>
          </p:cNvPr>
          <p:cNvSpPr txBox="1"/>
          <p:nvPr/>
        </p:nvSpPr>
        <p:spPr>
          <a:xfrm>
            <a:off x="6816437" y="6273324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Fake</a:t>
            </a:r>
            <a:endParaRPr lang="en-AE" dirty="0"/>
          </a:p>
        </p:txBody>
      </p:sp>
      <p:pic>
        <p:nvPicPr>
          <p:cNvPr id="8" name="Picture 7" descr="A person with short hair wearing a suit&#10;&#10;Description automatically generated">
            <a:extLst>
              <a:ext uri="{FF2B5EF4-FFF2-40B4-BE49-F238E27FC236}">
                <a16:creationId xmlns:a16="http://schemas.microsoft.com/office/drawing/2014/main" id="{16DE8C76-37CA-1E10-9196-A0458E08F7F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9650" y="5124372"/>
            <a:ext cx="1126258" cy="1126258"/>
          </a:xfrm>
          <a:prstGeom prst="rect">
            <a:avLst/>
          </a:prstGeom>
        </p:spPr>
      </p:pic>
      <p:pic>
        <p:nvPicPr>
          <p:cNvPr id="9" name="Picture 8" descr="A person with short black hair&#10;&#10;Description automatically generated">
            <a:extLst>
              <a:ext uri="{FF2B5EF4-FFF2-40B4-BE49-F238E27FC236}">
                <a16:creationId xmlns:a16="http://schemas.microsoft.com/office/drawing/2014/main" id="{B5CDFE69-0309-437B-A8B4-C3E2750FDDE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83976" y="5130324"/>
            <a:ext cx="1155700" cy="1143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E03ED04-5241-4C7E-502C-1EED8BB429A9}"/>
              </a:ext>
            </a:extLst>
          </p:cNvPr>
          <p:cNvSpPr txBox="1"/>
          <p:nvPr/>
        </p:nvSpPr>
        <p:spPr>
          <a:xfrm>
            <a:off x="10026347" y="6273324"/>
            <a:ext cx="6104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E" b="1" dirty="0"/>
              <a:t>Real</a:t>
            </a:r>
          </a:p>
        </p:txBody>
      </p:sp>
    </p:spTree>
    <p:extLst>
      <p:ext uri="{BB962C8B-B14F-4D97-AF65-F5344CB8AC3E}">
        <p14:creationId xmlns:p14="http://schemas.microsoft.com/office/powerpoint/2010/main" val="43748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1DBE429-8660-4D88-BC47-B159B7251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7DF222-98CD-4513-8AEA-F83CF2A11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0669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BC33EF-BD59-A7DB-55ED-D39C4673D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3391" y="624110"/>
            <a:ext cx="9383408" cy="128089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Model Architecture</a:t>
            </a:r>
            <a:endParaRPr lang="en-AE" b="1" dirty="0">
              <a:solidFill>
                <a:schemeClr val="bg1"/>
              </a:solidFill>
            </a:endParaRPr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92C98781-DD9B-44BA-B873-BD5060A9C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AD3CDA-63EE-D25D-240D-535578CB80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1092086"/>
              </p:ext>
            </p:extLst>
          </p:nvPr>
        </p:nvGraphicFramePr>
        <p:xfrm>
          <a:off x="961012" y="2930805"/>
          <a:ext cx="10265786" cy="29619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6485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1DBE429-8660-4D88-BC47-B159B7251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7DF222-98CD-4513-8AEA-F83CF2A11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0669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F2AFF6-2F39-28F6-2974-0C438ABD0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3391" y="624110"/>
            <a:ext cx="9383408" cy="128089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Model Comparison</a:t>
            </a:r>
            <a:endParaRPr lang="en-AE" b="1" dirty="0">
              <a:solidFill>
                <a:schemeClr val="bg1"/>
              </a:solidFill>
            </a:endParaRPr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92C98781-DD9B-44BA-B873-BD5060A9C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47D55B4-D8E6-5F90-B358-20258CAC7E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0540263"/>
              </p:ext>
            </p:extLst>
          </p:nvPr>
        </p:nvGraphicFramePr>
        <p:xfrm>
          <a:off x="1469835" y="3305379"/>
          <a:ext cx="9248142" cy="2212848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3022177">
                  <a:extLst>
                    <a:ext uri="{9D8B030D-6E8A-4147-A177-3AD203B41FA5}">
                      <a16:colId xmlns:a16="http://schemas.microsoft.com/office/drawing/2014/main" val="3863748890"/>
                    </a:ext>
                  </a:extLst>
                </a:gridCol>
                <a:gridCol w="2300394">
                  <a:extLst>
                    <a:ext uri="{9D8B030D-6E8A-4147-A177-3AD203B41FA5}">
                      <a16:colId xmlns:a16="http://schemas.microsoft.com/office/drawing/2014/main" val="177154268"/>
                    </a:ext>
                  </a:extLst>
                </a:gridCol>
                <a:gridCol w="1625177">
                  <a:extLst>
                    <a:ext uri="{9D8B030D-6E8A-4147-A177-3AD203B41FA5}">
                      <a16:colId xmlns:a16="http://schemas.microsoft.com/office/drawing/2014/main" val="3143254460"/>
                    </a:ext>
                  </a:extLst>
                </a:gridCol>
                <a:gridCol w="2300394">
                  <a:extLst>
                    <a:ext uri="{9D8B030D-6E8A-4147-A177-3AD203B41FA5}">
                      <a16:colId xmlns:a16="http://schemas.microsoft.com/office/drawing/2014/main" val="2650667956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r>
                        <a:rPr lang="en-US" sz="3300" dirty="0"/>
                        <a:t>Model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Accuracy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AUC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F1-Score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1737083876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 b="1" dirty="0" err="1"/>
                        <a:t>XceptionNet</a:t>
                      </a:r>
                      <a:endParaRPr lang="en-US" sz="3300" dirty="0"/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r>
                        <a:rPr lang="en-AE" sz="3300"/>
                        <a:t>0.98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r>
                        <a:rPr lang="en-AE" sz="3300"/>
                        <a:t>0.999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r>
                        <a:rPr lang="en-AE" sz="3300"/>
                        <a:t>0.98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1167580673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 b="1"/>
                        <a:t>ViT</a:t>
                      </a:r>
                      <a:endParaRPr lang="en-US" sz="3300"/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r>
                        <a:rPr lang="en-AE" sz="3300" dirty="0"/>
                        <a:t>0.875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r>
                        <a:rPr lang="en-AE" sz="3300"/>
                        <a:t>0.96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r>
                        <a:rPr lang="en-AE" sz="3300" b="0" kern="1200" dirty="0">
                          <a:solidFill>
                            <a:schemeClr val="dk1"/>
                          </a:solidFill>
                          <a:effectLst/>
                        </a:rPr>
                        <a:t>0.87 </a:t>
                      </a:r>
                      <a:endParaRPr lang="en-AE" sz="3300" dirty="0"/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616790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9114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5EE47-9DE7-0936-C49E-D9466CA8A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8210" y="5464628"/>
            <a:ext cx="8911687" cy="1280890"/>
          </a:xfrm>
        </p:spPr>
        <p:txBody>
          <a:bodyPr/>
          <a:lstStyle/>
          <a:p>
            <a:r>
              <a:rPr lang="en-AE" b="1" dirty="0"/>
              <a:t>Vision Transformers </a:t>
            </a:r>
          </a:p>
        </p:txBody>
      </p:sp>
      <p:pic>
        <p:nvPicPr>
          <p:cNvPr id="5" name="Content Placeholder 4" descr="A diagram of a confusion matrix&#10;&#10;Description automatically generated">
            <a:extLst>
              <a:ext uri="{FF2B5EF4-FFF2-40B4-BE49-F238E27FC236}">
                <a16:creationId xmlns:a16="http://schemas.microsoft.com/office/drawing/2014/main" id="{5AAEEBDA-E6D7-60D1-02AB-2B69D48BEF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1677" y="544286"/>
            <a:ext cx="5406209" cy="4599313"/>
          </a:xfrm>
        </p:spPr>
      </p:pic>
      <p:pic>
        <p:nvPicPr>
          <p:cNvPr id="7" name="Picture 6" descr="A graph of a curve&#10;&#10;Description automatically generated">
            <a:extLst>
              <a:ext uri="{FF2B5EF4-FFF2-40B4-BE49-F238E27FC236}">
                <a16:creationId xmlns:a16="http://schemas.microsoft.com/office/drawing/2014/main" id="{248E458F-064B-9910-849C-5F84C9CAB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8131" y="544286"/>
            <a:ext cx="4498006" cy="459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387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62D63-3A48-E708-885B-F5711016D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324" y="5678158"/>
            <a:ext cx="8911687" cy="1280890"/>
          </a:xfrm>
        </p:spPr>
        <p:txBody>
          <a:bodyPr/>
          <a:lstStyle/>
          <a:p>
            <a:r>
              <a:rPr lang="en-US" sz="3600" b="1" dirty="0" err="1"/>
              <a:t>XceptionNet</a:t>
            </a:r>
            <a:endParaRPr lang="en-AE" dirty="0"/>
          </a:p>
        </p:txBody>
      </p:sp>
      <p:pic>
        <p:nvPicPr>
          <p:cNvPr id="5" name="Content Placeholder 4" descr="A graph of a curve&#10;&#10;Description automatically generated">
            <a:extLst>
              <a:ext uri="{FF2B5EF4-FFF2-40B4-BE49-F238E27FC236}">
                <a16:creationId xmlns:a16="http://schemas.microsoft.com/office/drawing/2014/main" id="{0A5BC73F-8ABA-9C27-636B-84213D311E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18514" y="539397"/>
            <a:ext cx="5112216" cy="4948813"/>
          </a:xfrm>
        </p:spPr>
      </p:pic>
      <p:pic>
        <p:nvPicPr>
          <p:cNvPr id="7" name="Picture 6" descr="A blue squares with white text&#10;&#10;Description automatically generated">
            <a:extLst>
              <a:ext uri="{FF2B5EF4-FFF2-40B4-BE49-F238E27FC236}">
                <a16:creationId xmlns:a16="http://schemas.microsoft.com/office/drawing/2014/main" id="{8A4C4D0B-1E19-F373-81EC-1F4813C30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388" y="624110"/>
            <a:ext cx="5549900" cy="486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784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8F9DD-8868-8E0F-400B-F70DA1A1D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669" y="624110"/>
            <a:ext cx="4137059" cy="1280890"/>
          </a:xfrm>
        </p:spPr>
        <p:txBody>
          <a:bodyPr>
            <a:normAutofit/>
          </a:bodyPr>
          <a:lstStyle/>
          <a:p>
            <a:r>
              <a:rPr lang="en-US" sz="3200" b="1" dirty="0" err="1"/>
              <a:t>Explainability</a:t>
            </a:r>
            <a:r>
              <a:rPr lang="en-US" sz="3200" b="1" dirty="0"/>
              <a:t> with Grad-CAM</a:t>
            </a:r>
            <a:endParaRPr lang="en-AE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DE485-1337-F747-E143-034B6FC59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4727" y="2198914"/>
            <a:ext cx="4140772" cy="377762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“Heatmaps show attention areas. </a:t>
            </a:r>
            <a:r>
              <a:rPr lang="en-US" sz="2000" dirty="0" err="1">
                <a:solidFill>
                  <a:srgbClr val="000000"/>
                </a:solidFill>
              </a:rPr>
              <a:t>XceptionNet</a:t>
            </a:r>
            <a:r>
              <a:rPr lang="en-US" sz="2000" dirty="0">
                <a:solidFill>
                  <a:srgbClr val="000000"/>
                </a:solidFill>
              </a:rPr>
              <a:t> focuses on facial boundaries and lighting inconsistencies — typical indicators of manipulation.”</a:t>
            </a:r>
            <a:endParaRPr lang="en-AE" sz="2000" dirty="0">
              <a:solidFill>
                <a:srgbClr val="000000"/>
              </a:solidFill>
            </a:endParaRPr>
          </a:p>
        </p:txBody>
      </p:sp>
      <p:pic>
        <p:nvPicPr>
          <p:cNvPr id="5" name="Picture 4" descr="A collage of people with different colored circles&#10;&#10;Description automatically generated">
            <a:extLst>
              <a:ext uri="{FF2B5EF4-FFF2-40B4-BE49-F238E27FC236}">
                <a16:creationId xmlns:a16="http://schemas.microsoft.com/office/drawing/2014/main" id="{EF9BB1A0-1CBA-A59B-5203-67ECDFAD4E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32" r="6599" b="1"/>
          <a:stretch>
            <a:fillRect/>
          </a:stretch>
        </p:blipFill>
        <p:spPr>
          <a:xfrm>
            <a:off x="5998515" y="634608"/>
            <a:ext cx="5856027" cy="5588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093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74A36-9B24-9477-82FE-858ED80B1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Video Inference</a:t>
            </a:r>
            <a:endParaRPr lang="en-A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0BEB9-70AD-033F-0DC9-C97261F34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812" y="1540189"/>
            <a:ext cx="8915400" cy="3777622"/>
          </a:xfrm>
        </p:spPr>
        <p:txBody>
          <a:bodyPr/>
          <a:lstStyle/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ViT</a:t>
            </a:r>
            <a:r>
              <a:rPr lang="en-US" dirty="0"/>
              <a:t> extended to frame-wise </a:t>
            </a:r>
            <a:r>
              <a:rPr lang="en-US" b="1" dirty="0"/>
              <a:t>video inference</a:t>
            </a:r>
            <a:r>
              <a:rPr lang="en-US" dirty="0"/>
              <a:t> pipeline.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Detects manipulation and outputs annotated video with labels (“DEEPFAKE” / “REAL”).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Displays mean confidence score and per-frame probabilities.</a:t>
            </a:r>
          </a:p>
          <a:p>
            <a:endParaRPr lang="en-AE" dirty="0"/>
          </a:p>
        </p:txBody>
      </p:sp>
      <p:pic>
        <p:nvPicPr>
          <p:cNvPr id="5" name="Picture 4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E514D4FC-3FCA-E04F-5F37-B7369C941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742871"/>
            <a:ext cx="7772400" cy="226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83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1DBE429-8660-4D88-BC47-B159B7251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7DF222-98CD-4513-8AEA-F83CF2A11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0669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94554C-ECA2-C597-6863-13D699092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3391" y="624110"/>
            <a:ext cx="9383408" cy="1280890"/>
          </a:xfrm>
        </p:spPr>
        <p:txBody>
          <a:bodyPr>
            <a:normAutofit/>
          </a:bodyPr>
          <a:lstStyle/>
          <a:p>
            <a:r>
              <a:rPr lang="en-AE" b="1">
                <a:solidFill>
                  <a:schemeClr val="bg1"/>
                </a:solidFill>
              </a:rPr>
              <a:t>FUTURE WORK</a:t>
            </a:r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92C98781-DD9B-44BA-B873-BD5060A9C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488E90D-663F-E279-8D77-DD9080A3F6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2290490"/>
              </p:ext>
            </p:extLst>
          </p:nvPr>
        </p:nvGraphicFramePr>
        <p:xfrm>
          <a:off x="961012" y="2930805"/>
          <a:ext cx="10265786" cy="29619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5877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41901B5-54FD-4B44-A07E-D651282DF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ED4240-B530-317F-F28C-596CEE1DF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US" b="1" dirty="0"/>
              <a:t>Research Gap &amp; Novel Contributions</a:t>
            </a:r>
            <a:endParaRPr lang="en-AE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405D71-C37E-449D-A61C-11064F760A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6C97661C-87C2-4FD2-AE84-0FA740CF5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F322926-6A25-E9DF-594F-F1EFB1DBC3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9120116"/>
              </p:ext>
            </p:extLst>
          </p:nvPr>
        </p:nvGraphicFramePr>
        <p:xfrm>
          <a:off x="1382486" y="1665514"/>
          <a:ext cx="10330543" cy="4568379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321118">
                  <a:extLst>
                    <a:ext uri="{9D8B030D-6E8A-4147-A177-3AD203B41FA5}">
                      <a16:colId xmlns:a16="http://schemas.microsoft.com/office/drawing/2014/main" val="1482079315"/>
                    </a:ext>
                  </a:extLst>
                </a:gridCol>
                <a:gridCol w="3516901">
                  <a:extLst>
                    <a:ext uri="{9D8B030D-6E8A-4147-A177-3AD203B41FA5}">
                      <a16:colId xmlns:a16="http://schemas.microsoft.com/office/drawing/2014/main" val="3701128177"/>
                    </a:ext>
                  </a:extLst>
                </a:gridCol>
                <a:gridCol w="3492524">
                  <a:extLst>
                    <a:ext uri="{9D8B030D-6E8A-4147-A177-3AD203B41FA5}">
                      <a16:colId xmlns:a16="http://schemas.microsoft.com/office/drawing/2014/main" val="3478284675"/>
                    </a:ext>
                  </a:extLst>
                </a:gridCol>
              </a:tblGrid>
              <a:tr h="367105">
                <a:tc>
                  <a:txBody>
                    <a:bodyPr/>
                    <a:lstStyle/>
                    <a:p>
                      <a:r>
                        <a:rPr lang="en-US" sz="1200"/>
                        <a:t>Aspect</a:t>
                      </a:r>
                    </a:p>
                  </a:txBody>
                  <a:tcPr marL="59230" marR="59230" marT="29616" marB="2961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Existing Research</a:t>
                      </a:r>
                    </a:p>
                  </a:txBody>
                  <a:tcPr marL="59230" marR="59230" marT="29616" marB="29616" anchor="ctr"/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Our Contribution</a:t>
                      </a:r>
                      <a:endParaRPr lang="en-US" sz="1200"/>
                    </a:p>
                  </a:txBody>
                  <a:tcPr marL="59230" marR="59230" marT="29616" marB="29616" anchor="ctr"/>
                </a:tc>
                <a:extLst>
                  <a:ext uri="{0D108BD9-81ED-4DB2-BD59-A6C34878D82A}">
                    <a16:rowId xmlns:a16="http://schemas.microsoft.com/office/drawing/2014/main" val="4069270344"/>
                  </a:ext>
                </a:extLst>
              </a:tr>
              <a:tr h="600182">
                <a:tc>
                  <a:txBody>
                    <a:bodyPr/>
                    <a:lstStyle/>
                    <a:p>
                      <a:r>
                        <a:rPr lang="en-US" sz="1200" b="1"/>
                        <a:t>Focus Area</a:t>
                      </a:r>
                      <a:endParaRPr lang="en-US" sz="1200"/>
                    </a:p>
                  </a:txBody>
                  <a:tcPr marL="59230" marR="59230" marT="29616" marB="2961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Mostly </a:t>
                      </a:r>
                      <a:r>
                        <a:rPr lang="en-US" sz="1200" b="1"/>
                        <a:t>content-level detection</a:t>
                      </a:r>
                      <a:r>
                        <a:rPr lang="en-US" sz="1200"/>
                        <a:t> using CNNs, RNNs, or ViTs</a:t>
                      </a:r>
                    </a:p>
                  </a:txBody>
                  <a:tcPr marL="59230" marR="59230" marT="29616" marB="29616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Integrates </a:t>
                      </a:r>
                      <a:r>
                        <a:rPr lang="en-US" sz="1200" b="1" dirty="0"/>
                        <a:t>content + context</a:t>
                      </a:r>
                      <a:r>
                        <a:rPr lang="en-US" sz="1200" dirty="0"/>
                        <a:t> (video features + OSN diffusion graphs)</a:t>
                      </a:r>
                    </a:p>
                  </a:txBody>
                  <a:tcPr marL="59230" marR="59230" marT="29616" marB="29616" anchor="ctr"/>
                </a:tc>
                <a:extLst>
                  <a:ext uri="{0D108BD9-81ED-4DB2-BD59-A6C34878D82A}">
                    <a16:rowId xmlns:a16="http://schemas.microsoft.com/office/drawing/2014/main" val="3208617652"/>
                  </a:ext>
                </a:extLst>
              </a:tr>
              <a:tr h="600182">
                <a:tc>
                  <a:txBody>
                    <a:bodyPr/>
                    <a:lstStyle/>
                    <a:p>
                      <a:r>
                        <a:rPr lang="en-US" sz="1200" b="1" dirty="0"/>
                        <a:t>Dataset Generalization</a:t>
                      </a:r>
                      <a:endParaRPr lang="en-US" sz="1200" dirty="0"/>
                    </a:p>
                  </a:txBody>
                  <a:tcPr marL="59230" marR="59230" marT="29616" marB="2961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Models overfit to benchmarks like DFDC / FaceForensics++</a:t>
                      </a:r>
                    </a:p>
                  </a:txBody>
                  <a:tcPr marL="59230" marR="59230" marT="29616" marB="29616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Trained on </a:t>
                      </a:r>
                      <a:r>
                        <a:rPr lang="en-US" sz="1200" b="1" dirty="0"/>
                        <a:t>balanced, multi-manipulation </a:t>
                      </a:r>
                      <a:r>
                        <a:rPr lang="en-US" sz="1200" b="1" dirty="0" err="1"/>
                        <a:t>FaceForensics</a:t>
                      </a:r>
                      <a:r>
                        <a:rPr lang="en-US" sz="1200" b="1" dirty="0"/>
                        <a:t>++ subset</a:t>
                      </a:r>
                      <a:endParaRPr lang="en-US" sz="1200" dirty="0"/>
                    </a:p>
                  </a:txBody>
                  <a:tcPr marL="59230" marR="59230" marT="29616" marB="29616" anchor="ctr"/>
                </a:tc>
                <a:extLst>
                  <a:ext uri="{0D108BD9-81ED-4DB2-BD59-A6C34878D82A}">
                    <a16:rowId xmlns:a16="http://schemas.microsoft.com/office/drawing/2014/main" val="187153769"/>
                  </a:ext>
                </a:extLst>
              </a:tr>
              <a:tr h="600182">
                <a:tc>
                  <a:txBody>
                    <a:bodyPr/>
                    <a:lstStyle/>
                    <a:p>
                      <a:r>
                        <a:rPr lang="en-US" sz="1200" b="1"/>
                        <a:t>Interpretability</a:t>
                      </a:r>
                      <a:endParaRPr lang="en-US" sz="1200"/>
                    </a:p>
                  </a:txBody>
                  <a:tcPr marL="59230" marR="59230" marT="29616" marB="2961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Limited explainability</a:t>
                      </a:r>
                    </a:p>
                  </a:txBody>
                  <a:tcPr marL="59230" marR="59230" marT="29616" marB="29616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Added </a:t>
                      </a:r>
                      <a:r>
                        <a:rPr lang="en-US" sz="1200" b="1" dirty="0"/>
                        <a:t>Grad-CAM heatmaps</a:t>
                      </a:r>
                      <a:r>
                        <a:rPr lang="en-US" sz="1200" dirty="0"/>
                        <a:t> for model transparency</a:t>
                      </a:r>
                    </a:p>
                  </a:txBody>
                  <a:tcPr marL="59230" marR="59230" marT="29616" marB="29616" anchor="ctr"/>
                </a:tc>
                <a:extLst>
                  <a:ext uri="{0D108BD9-81ED-4DB2-BD59-A6C34878D82A}">
                    <a16:rowId xmlns:a16="http://schemas.microsoft.com/office/drawing/2014/main" val="3244625237"/>
                  </a:ext>
                </a:extLst>
              </a:tr>
              <a:tr h="600182">
                <a:tc>
                  <a:txBody>
                    <a:bodyPr/>
                    <a:lstStyle/>
                    <a:p>
                      <a:r>
                        <a:rPr lang="en-US" sz="1200" b="1"/>
                        <a:t>Video-Level Detection</a:t>
                      </a:r>
                      <a:endParaRPr lang="en-US" sz="1200"/>
                    </a:p>
                  </a:txBody>
                  <a:tcPr marL="59230" marR="59230" marT="29616" marB="2961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Often restricted to image frames</a:t>
                      </a:r>
                    </a:p>
                  </a:txBody>
                  <a:tcPr marL="59230" marR="59230" marT="29616" marB="29616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Developed </a:t>
                      </a:r>
                      <a:r>
                        <a:rPr lang="en-US" sz="1200" b="1" dirty="0"/>
                        <a:t>frame-wise video inference module</a:t>
                      </a:r>
                      <a:endParaRPr lang="en-US" sz="1200" dirty="0"/>
                    </a:p>
                  </a:txBody>
                  <a:tcPr marL="59230" marR="59230" marT="29616" marB="29616" anchor="ctr"/>
                </a:tc>
                <a:extLst>
                  <a:ext uri="{0D108BD9-81ED-4DB2-BD59-A6C34878D82A}">
                    <a16:rowId xmlns:a16="http://schemas.microsoft.com/office/drawing/2014/main" val="2101479777"/>
                  </a:ext>
                </a:extLst>
              </a:tr>
              <a:tr h="600182">
                <a:tc>
                  <a:txBody>
                    <a:bodyPr/>
                    <a:lstStyle/>
                    <a:p>
                      <a:r>
                        <a:rPr lang="en-US" sz="1200" b="1"/>
                        <a:t>Adversarial Robustness</a:t>
                      </a:r>
                      <a:endParaRPr lang="en-US" sz="1200"/>
                    </a:p>
                  </a:txBody>
                  <a:tcPr marL="59230" marR="59230" marT="29616" marB="2961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Not resilient to diffusion- or GAN-based manipulations</a:t>
                      </a:r>
                    </a:p>
                  </a:txBody>
                  <a:tcPr marL="59230" marR="59230" marT="29616" marB="29616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Propose </a:t>
                      </a:r>
                      <a:r>
                        <a:rPr lang="en-US" sz="1200" b="1" dirty="0"/>
                        <a:t>GAN-based adversarial retraining</a:t>
                      </a:r>
                      <a:endParaRPr lang="en-US" sz="1200" dirty="0"/>
                    </a:p>
                  </a:txBody>
                  <a:tcPr marL="59230" marR="59230" marT="29616" marB="29616" anchor="ctr"/>
                </a:tc>
                <a:extLst>
                  <a:ext uri="{0D108BD9-81ED-4DB2-BD59-A6C34878D82A}">
                    <a16:rowId xmlns:a16="http://schemas.microsoft.com/office/drawing/2014/main" val="2192293390"/>
                  </a:ext>
                </a:extLst>
              </a:tr>
              <a:tr h="600182">
                <a:tc>
                  <a:txBody>
                    <a:bodyPr/>
                    <a:lstStyle/>
                    <a:p>
                      <a:r>
                        <a:rPr lang="en-US" sz="1200" b="1"/>
                        <a:t>Social Context Missing</a:t>
                      </a:r>
                      <a:endParaRPr lang="en-US" sz="1200"/>
                    </a:p>
                  </a:txBody>
                  <a:tcPr marL="59230" marR="59230" marT="29616" marB="2961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No use of repost/propagation data</a:t>
                      </a:r>
                    </a:p>
                  </a:txBody>
                  <a:tcPr marL="59230" marR="59230" marT="29616" marB="29616" anchor="ctr"/>
                </a:tc>
                <a:tc>
                  <a:txBody>
                    <a:bodyPr/>
                    <a:lstStyle/>
                    <a:p>
                      <a:r>
                        <a:rPr lang="en-AE" sz="1200" dirty="0"/>
                        <a:t> </a:t>
                      </a:r>
                      <a:r>
                        <a:rPr lang="en-US" sz="1200" dirty="0"/>
                        <a:t>Plan </a:t>
                      </a:r>
                      <a:r>
                        <a:rPr lang="en-US" sz="1200" b="1" dirty="0"/>
                        <a:t>GNN modeling</a:t>
                      </a:r>
                      <a:r>
                        <a:rPr lang="en-US" sz="1200" dirty="0"/>
                        <a:t> of diffusion graphs for OSN context</a:t>
                      </a:r>
                    </a:p>
                  </a:txBody>
                  <a:tcPr marL="59230" marR="59230" marT="29616" marB="29616" anchor="ctr"/>
                </a:tc>
                <a:extLst>
                  <a:ext uri="{0D108BD9-81ED-4DB2-BD59-A6C34878D82A}">
                    <a16:rowId xmlns:a16="http://schemas.microsoft.com/office/drawing/2014/main" val="3075366657"/>
                  </a:ext>
                </a:extLst>
              </a:tr>
              <a:tr h="600182">
                <a:tc>
                  <a:txBody>
                    <a:bodyPr/>
                    <a:lstStyle/>
                    <a:p>
                      <a:r>
                        <a:rPr lang="en-US" sz="1200" b="1"/>
                        <a:t>Evaluation</a:t>
                      </a:r>
                      <a:endParaRPr lang="en-US" sz="1200"/>
                    </a:p>
                  </a:txBody>
                  <a:tcPr marL="59230" marR="59230" marT="29616" marB="2961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Accuracy &amp; loss only</a:t>
                      </a:r>
                    </a:p>
                  </a:txBody>
                  <a:tcPr marL="59230" marR="59230" marT="29616" marB="29616" anchor="ctr"/>
                </a:tc>
                <a:tc>
                  <a:txBody>
                    <a:bodyPr/>
                    <a:lstStyle/>
                    <a:p>
                      <a:r>
                        <a:rPr lang="en-AE" sz="1200" dirty="0"/>
                        <a:t> </a:t>
                      </a:r>
                      <a:r>
                        <a:rPr lang="en-US" sz="1200" dirty="0"/>
                        <a:t>Full metrics (Accuracy, F1, AUC, ROC, Confusion Matrix)</a:t>
                      </a:r>
                    </a:p>
                  </a:txBody>
                  <a:tcPr marL="59230" marR="59230" marT="29616" marB="29616" anchor="ctr"/>
                </a:tc>
                <a:extLst>
                  <a:ext uri="{0D108BD9-81ED-4DB2-BD59-A6C34878D82A}">
                    <a16:rowId xmlns:a16="http://schemas.microsoft.com/office/drawing/2014/main" val="3128919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4108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4F5CD-D290-C581-D293-B66EE1BA7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517" y="653143"/>
            <a:ext cx="7461940" cy="5563618"/>
          </a:xfrm>
        </p:spPr>
        <p:txBody>
          <a:bodyPr>
            <a:normAutofit/>
          </a:bodyPr>
          <a:lstStyle/>
          <a:p>
            <a:r>
              <a:rPr lang="en-AE" sz="5400" b="1" dirty="0"/>
              <a:t>FLOWCHART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F721CCC-55E6-454D-0809-A96140241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86" y="1987880"/>
            <a:ext cx="11587358" cy="321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3689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180</TotalTime>
  <Words>530</Words>
  <Application>Microsoft Macintosh PowerPoint</Application>
  <PresentationFormat>Widescreen</PresentationFormat>
  <Paragraphs>101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Wisp</vt:lpstr>
      <vt:lpstr>Deepfake Detection in Online Social Network (OSN)  </vt:lpstr>
      <vt:lpstr>PROBLEM STATEMENT </vt:lpstr>
      <vt:lpstr>DATASET DESCRIPTION (FaceForensics++)</vt:lpstr>
      <vt:lpstr>Model Architecture</vt:lpstr>
      <vt:lpstr>Model Comparison</vt:lpstr>
      <vt:lpstr>Vision Transformers </vt:lpstr>
      <vt:lpstr>XceptionNet</vt:lpstr>
      <vt:lpstr>Explainability with Grad-CAM</vt:lpstr>
      <vt:lpstr>Video Inference</vt:lpstr>
      <vt:lpstr>FUTURE WORK</vt:lpstr>
      <vt:lpstr>Research Gap &amp; Novel Contributions</vt:lpstr>
      <vt:lpstr>FLOWCHART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Deepfake Detection in Online Social Network (OSN)  </dc:title>
  <dc:creator>tarunikka suresh</dc:creator>
  <cp:lastModifiedBy>tarunikka suresh</cp:lastModifiedBy>
  <cp:revision>1</cp:revision>
  <dcterms:created xsi:type="dcterms:W3CDTF">2025-11-09T16:35:17Z</dcterms:created>
  <dcterms:modified xsi:type="dcterms:W3CDTF">2025-11-09T19:35:34Z</dcterms:modified>
</cp:coreProperties>
</file>